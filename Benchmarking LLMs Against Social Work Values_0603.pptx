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910" r:id="rId5"/>
    <p:sldMasterId id="2147483897" r:id="rId6"/>
  </p:sldMasterIdLst>
  <p:notesMasterIdLst>
    <p:notesMasterId r:id="rId24"/>
  </p:notesMasterIdLst>
  <p:handoutMasterIdLst>
    <p:handoutMasterId r:id="rId25"/>
  </p:handoutMasterIdLst>
  <p:sldIdLst>
    <p:sldId id="348" r:id="rId7"/>
    <p:sldId id="357" r:id="rId8"/>
    <p:sldId id="342" r:id="rId9"/>
    <p:sldId id="351" r:id="rId10"/>
    <p:sldId id="355" r:id="rId11"/>
    <p:sldId id="367" r:id="rId12"/>
    <p:sldId id="261" r:id="rId13"/>
    <p:sldId id="358" r:id="rId14"/>
    <p:sldId id="359" r:id="rId15"/>
    <p:sldId id="353" r:id="rId16"/>
    <p:sldId id="360" r:id="rId17"/>
    <p:sldId id="361" r:id="rId18"/>
    <p:sldId id="362" r:id="rId19"/>
    <p:sldId id="364" r:id="rId20"/>
    <p:sldId id="363" r:id="rId21"/>
    <p:sldId id="365" r:id="rId22"/>
    <p:sldId id="366" r:id="rId23"/>
  </p:sldIdLst>
  <p:sldSz cx="9144000" cy="5143500" type="screen16x9"/>
  <p:notesSz cx="6805613" cy="9944100"/>
  <p:defaultTex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713">
          <p15:clr>
            <a:srgbClr val="A4A3A4"/>
          </p15:clr>
        </p15:guide>
        <p15:guide id="2" pos="24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78299" autoAdjust="0"/>
  </p:normalViewPr>
  <p:slideViewPr>
    <p:cSldViewPr snapToObjects="1">
      <p:cViewPr>
        <p:scale>
          <a:sx n="129" d="100"/>
          <a:sy n="129" d="100"/>
        </p:scale>
        <p:origin x="648" y="-80"/>
      </p:cViewPr>
      <p:guideLst>
        <p:guide orient="horz" pos="713"/>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hu.wikipedia.org/wiki/ChatGPT" TargetMode="External"/><Relationship Id="rId1"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hyperlink" Target="https://hu.wikipedia.org/wiki/ChatGPT" TargetMode="External"/><Relationship Id="rId1"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8CB74D-820F-421D-A924-0A466722CA2C}"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7CD254B5-6F12-49BB-94BF-7D979BB0840B}">
      <dgm:prSet/>
      <dgm:spPr/>
      <dgm:t>
        <a:bodyPr/>
        <a:lstStyle/>
        <a:p>
          <a:r>
            <a:rPr lang="en-US" b="1" i="0" baseline="0" dirty="0"/>
            <a:t>Models:</a:t>
          </a:r>
          <a:r>
            <a:rPr lang="en-US" b="0" i="0" baseline="0" dirty="0"/>
            <a:t> Mistral 7B · Gemma 3 4B · Llama 3.1 8B · GPT-5.2</a:t>
          </a:r>
          <a:endParaRPr lang="en-US" dirty="0"/>
        </a:p>
      </dgm:t>
    </dgm:pt>
    <dgm:pt modelId="{60BC103B-F151-4C3B-955F-6BD69A3FFC59}" type="parTrans" cxnId="{4B3DC2B5-C880-4B5D-97F9-F5EAC7480F93}">
      <dgm:prSet/>
      <dgm:spPr/>
      <dgm:t>
        <a:bodyPr/>
        <a:lstStyle/>
        <a:p>
          <a:endParaRPr lang="en-US"/>
        </a:p>
      </dgm:t>
    </dgm:pt>
    <dgm:pt modelId="{4CE5051F-5079-44D2-BD14-90DC7AB1A760}" type="sibTrans" cxnId="{4B3DC2B5-C880-4B5D-97F9-F5EAC7480F93}">
      <dgm:prSet/>
      <dgm:spPr/>
      <dgm:t>
        <a:bodyPr/>
        <a:lstStyle/>
        <a:p>
          <a:endParaRPr lang="en-US"/>
        </a:p>
      </dgm:t>
    </dgm:pt>
    <dgm:pt modelId="{E3D2DC58-412E-40A4-BFA6-0736F09E4DE2}">
      <dgm:prSet/>
      <dgm:spPr/>
      <dgm:t>
        <a:bodyPr/>
        <a:lstStyle/>
        <a:p>
          <a:r>
            <a:rPr lang="en-US" b="1" i="0" baseline="0" dirty="0"/>
            <a:t>Prompt variants:</a:t>
          </a:r>
          <a:r>
            <a:rPr lang="en-US" b="0" i="0" baseline="0" dirty="0"/>
            <a:t> V0–V</a:t>
          </a:r>
          <a:r>
            <a:rPr lang="en-US" altLang="zh-CN" b="0" i="0" baseline="0" dirty="0"/>
            <a:t>5</a:t>
          </a:r>
          <a:endParaRPr lang="en-US" dirty="0"/>
        </a:p>
      </dgm:t>
    </dgm:pt>
    <dgm:pt modelId="{2486CE20-DE83-43A8-8EE8-A9616AAAA07B}" type="parTrans" cxnId="{F09184EA-2A66-44EE-831C-9BB363DE7EC4}">
      <dgm:prSet/>
      <dgm:spPr/>
      <dgm:t>
        <a:bodyPr/>
        <a:lstStyle/>
        <a:p>
          <a:endParaRPr lang="en-US"/>
        </a:p>
      </dgm:t>
    </dgm:pt>
    <dgm:pt modelId="{262C9FB3-A99C-4F3E-82F3-6A81AC653BF5}" type="sibTrans" cxnId="{F09184EA-2A66-44EE-831C-9BB363DE7EC4}">
      <dgm:prSet/>
      <dgm:spPr/>
      <dgm:t>
        <a:bodyPr/>
        <a:lstStyle/>
        <a:p>
          <a:endParaRPr lang="en-US"/>
        </a:p>
      </dgm:t>
    </dgm:pt>
    <dgm:pt modelId="{DED22E61-1261-4231-898D-D4B2A617B8DF}">
      <dgm:prSet/>
      <dgm:spPr/>
      <dgm:t>
        <a:bodyPr/>
        <a:lstStyle/>
        <a:p>
          <a:r>
            <a:rPr lang="en-US" b="1" i="0" baseline="0"/>
            <a:t>Inputs:</a:t>
          </a:r>
          <a:r>
            <a:rPr lang="en-US" b="0" i="0" baseline="0"/>
            <a:t> 47 service-relevant scenarios</a:t>
          </a:r>
          <a:endParaRPr lang="en-US"/>
        </a:p>
      </dgm:t>
    </dgm:pt>
    <dgm:pt modelId="{A135A39B-E423-4BFF-BDA3-8C274A9F3BA6}" type="parTrans" cxnId="{E7591098-423D-4D3B-8F86-9898012E19AF}">
      <dgm:prSet/>
      <dgm:spPr/>
      <dgm:t>
        <a:bodyPr/>
        <a:lstStyle/>
        <a:p>
          <a:endParaRPr lang="en-US"/>
        </a:p>
      </dgm:t>
    </dgm:pt>
    <dgm:pt modelId="{4F21377B-241C-4AF4-90AE-8281037F8D3B}" type="sibTrans" cxnId="{E7591098-423D-4D3B-8F86-9898012E19AF}">
      <dgm:prSet/>
      <dgm:spPr/>
      <dgm:t>
        <a:bodyPr/>
        <a:lstStyle/>
        <a:p>
          <a:endParaRPr lang="en-US"/>
        </a:p>
      </dgm:t>
    </dgm:pt>
    <dgm:pt modelId="{14C1278D-9F94-4D8B-BDA6-BF04B0F3621C}">
      <dgm:prSet/>
      <dgm:spPr/>
      <dgm:t>
        <a:bodyPr/>
        <a:lstStyle/>
        <a:p>
          <a:r>
            <a:rPr lang="en-US" b="1" i="0" baseline="0" dirty="0"/>
            <a:t>Outputs:</a:t>
          </a:r>
          <a:r>
            <a:rPr lang="en-US" b="0" i="0" baseline="0" dirty="0"/>
            <a:t> 1,128 single-turn responses (47 scenarios*6 iterations*4 models)</a:t>
          </a:r>
          <a:endParaRPr lang="en-US" dirty="0"/>
        </a:p>
      </dgm:t>
    </dgm:pt>
    <dgm:pt modelId="{F120186C-6296-47C3-BA87-1C5F42423028}" type="parTrans" cxnId="{913138A1-47B3-4852-A995-18A7483DFF7D}">
      <dgm:prSet/>
      <dgm:spPr/>
      <dgm:t>
        <a:bodyPr/>
        <a:lstStyle/>
        <a:p>
          <a:endParaRPr lang="en-US"/>
        </a:p>
      </dgm:t>
    </dgm:pt>
    <dgm:pt modelId="{BB53A3C6-C64A-4DAD-AFA2-FF33A9A13F37}" type="sibTrans" cxnId="{913138A1-47B3-4852-A995-18A7483DFF7D}">
      <dgm:prSet/>
      <dgm:spPr/>
      <dgm:t>
        <a:bodyPr/>
        <a:lstStyle/>
        <a:p>
          <a:endParaRPr lang="en-US"/>
        </a:p>
      </dgm:t>
    </dgm:pt>
    <dgm:pt modelId="{3E0B23AE-E97C-7A48-BCF4-D4F0D80809D8}">
      <dgm:prSet/>
      <dgm:spPr/>
      <dgm:t>
        <a:bodyPr/>
        <a:lstStyle/>
        <a:p>
          <a:pPr>
            <a:buNone/>
          </a:pPr>
          <a:r>
            <a:rPr lang="en-GB" b="1" dirty="0"/>
            <a:t>Analyse: </a:t>
          </a:r>
          <a:r>
            <a:rPr lang="en-GB" dirty="0"/>
            <a:t>Computed domain scores and analysed iteration trends using grouped means and SBERT.</a:t>
          </a:r>
          <a:endParaRPr lang="en-US" dirty="0"/>
        </a:p>
      </dgm:t>
    </dgm:pt>
    <dgm:pt modelId="{6DD7F365-34F8-7840-899F-C5FD64087AD7}" type="parTrans" cxnId="{08CFFD88-6BA8-AD45-AA0A-56942D09C29B}">
      <dgm:prSet/>
      <dgm:spPr/>
      <dgm:t>
        <a:bodyPr/>
        <a:lstStyle/>
        <a:p>
          <a:endParaRPr lang="en-US"/>
        </a:p>
      </dgm:t>
    </dgm:pt>
    <dgm:pt modelId="{E1994460-45C0-1D41-8B5A-6B3F82CB1F0C}" type="sibTrans" cxnId="{08CFFD88-6BA8-AD45-AA0A-56942D09C29B}">
      <dgm:prSet/>
      <dgm:spPr/>
      <dgm:t>
        <a:bodyPr/>
        <a:lstStyle/>
        <a:p>
          <a:endParaRPr lang="en-US"/>
        </a:p>
      </dgm:t>
    </dgm:pt>
    <dgm:pt modelId="{B1C7FF6F-9D29-4CED-920E-3D17CC6EF056}" type="pres">
      <dgm:prSet presAssocID="{A78CB74D-820F-421D-A924-0A466722CA2C}" presName="root" presStyleCnt="0">
        <dgm:presLayoutVars>
          <dgm:dir/>
          <dgm:resizeHandles val="exact"/>
        </dgm:presLayoutVars>
      </dgm:prSet>
      <dgm:spPr/>
    </dgm:pt>
    <dgm:pt modelId="{54E10E71-072B-4690-A8F9-FED931B95138}" type="pres">
      <dgm:prSet presAssocID="{7CD254B5-6F12-49BB-94BF-7D979BB0840B}" presName="compNode" presStyleCnt="0"/>
      <dgm:spPr/>
    </dgm:pt>
    <dgm:pt modelId="{277F758F-D569-4F3D-80CE-92D805C27C9C}" type="pres">
      <dgm:prSet presAssocID="{7CD254B5-6F12-49BB-94BF-7D979BB0840B}" presName="bgRect" presStyleLbl="bgShp" presStyleIdx="0" presStyleCnt="5"/>
      <dgm:spPr/>
    </dgm:pt>
    <dgm:pt modelId="{02EA62D8-0F47-4988-A67C-9D2131662CC7}" type="pres">
      <dgm:prSet presAssocID="{7CD254B5-6F12-49BB-94BF-7D979BB0840B}" presName="iconRect" presStyleLbl="node1" presStyleIdx="0" presStyleCnt="5"/>
      <dgm:spPr>
        <a:prstGeom prst="quadArrowCallou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a:stretch>
        </a:blipFill>
        <a:ln>
          <a:noFill/>
        </a:ln>
      </dgm:spPr>
    </dgm:pt>
    <dgm:pt modelId="{E0178804-2BB4-49C1-BF74-862C3FFF1DE5}" type="pres">
      <dgm:prSet presAssocID="{7CD254B5-6F12-49BB-94BF-7D979BB0840B}" presName="spaceRect" presStyleCnt="0"/>
      <dgm:spPr/>
    </dgm:pt>
    <dgm:pt modelId="{DA33E67E-9B2D-4ABA-9ED8-27304C184202}" type="pres">
      <dgm:prSet presAssocID="{7CD254B5-6F12-49BB-94BF-7D979BB0840B}" presName="parTx" presStyleLbl="revTx" presStyleIdx="0" presStyleCnt="5">
        <dgm:presLayoutVars>
          <dgm:chMax val="0"/>
          <dgm:chPref val="0"/>
        </dgm:presLayoutVars>
      </dgm:prSet>
      <dgm:spPr/>
    </dgm:pt>
    <dgm:pt modelId="{487AA517-9249-48A6-8FF6-5DBBD9A375E4}" type="pres">
      <dgm:prSet presAssocID="{4CE5051F-5079-44D2-BD14-90DC7AB1A760}" presName="sibTrans" presStyleCnt="0"/>
      <dgm:spPr/>
    </dgm:pt>
    <dgm:pt modelId="{65C0E412-D8C7-468D-85E4-AC65B087AFAA}" type="pres">
      <dgm:prSet presAssocID="{E3D2DC58-412E-40A4-BFA6-0736F09E4DE2}" presName="compNode" presStyleCnt="0"/>
      <dgm:spPr/>
    </dgm:pt>
    <dgm:pt modelId="{6495C0C0-8A20-4BAF-A76F-DE7B7C03B40B}" type="pres">
      <dgm:prSet presAssocID="{E3D2DC58-412E-40A4-BFA6-0736F09E4DE2}" presName="bgRect" presStyleLbl="bgShp" presStyleIdx="1" presStyleCnt="5" custLinFactNeighborX="-973"/>
      <dgm:spPr/>
    </dgm:pt>
    <dgm:pt modelId="{DC4E42BA-A230-4593-AD1C-07A5B9ADEB48}" type="pres">
      <dgm:prSet presAssocID="{E3D2DC58-412E-40A4-BFA6-0736F09E4DE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AD09233B-77B3-4420-BCD3-D416168D396A}" type="pres">
      <dgm:prSet presAssocID="{E3D2DC58-412E-40A4-BFA6-0736F09E4DE2}" presName="spaceRect" presStyleCnt="0"/>
      <dgm:spPr/>
    </dgm:pt>
    <dgm:pt modelId="{F431B686-247D-4A7F-95CD-0BBA9BB1CB04}" type="pres">
      <dgm:prSet presAssocID="{E3D2DC58-412E-40A4-BFA6-0736F09E4DE2}" presName="parTx" presStyleLbl="revTx" presStyleIdx="1" presStyleCnt="5">
        <dgm:presLayoutVars>
          <dgm:chMax val="0"/>
          <dgm:chPref val="0"/>
        </dgm:presLayoutVars>
      </dgm:prSet>
      <dgm:spPr/>
    </dgm:pt>
    <dgm:pt modelId="{FC889B94-C358-4100-8FF7-04D790371F47}" type="pres">
      <dgm:prSet presAssocID="{262C9FB3-A99C-4F3E-82F3-6A81AC653BF5}" presName="sibTrans" presStyleCnt="0"/>
      <dgm:spPr/>
    </dgm:pt>
    <dgm:pt modelId="{EF07E32A-4A41-4E1F-BC07-193ED767A0B5}" type="pres">
      <dgm:prSet presAssocID="{DED22E61-1261-4231-898D-D4B2A617B8DF}" presName="compNode" presStyleCnt="0"/>
      <dgm:spPr/>
    </dgm:pt>
    <dgm:pt modelId="{8983AFD2-7524-4FDF-9F5E-A4BBA978FAD7}" type="pres">
      <dgm:prSet presAssocID="{DED22E61-1261-4231-898D-D4B2A617B8DF}" presName="bgRect" presStyleLbl="bgShp" presStyleIdx="2" presStyleCnt="5"/>
      <dgm:spPr/>
    </dgm:pt>
    <dgm:pt modelId="{0C060C1C-34A2-4BEC-B678-9D1532BCD4EC}" type="pres">
      <dgm:prSet presAssocID="{DED22E61-1261-4231-898D-D4B2A617B8D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ning Tools"/>
        </a:ext>
      </dgm:extLst>
    </dgm:pt>
    <dgm:pt modelId="{7FC9A57C-A830-4218-8C82-34B72EC86BBA}" type="pres">
      <dgm:prSet presAssocID="{DED22E61-1261-4231-898D-D4B2A617B8DF}" presName="spaceRect" presStyleCnt="0"/>
      <dgm:spPr/>
    </dgm:pt>
    <dgm:pt modelId="{BA2D2231-7318-4FB0-B53E-6CB374A83DBC}" type="pres">
      <dgm:prSet presAssocID="{DED22E61-1261-4231-898D-D4B2A617B8DF}" presName="parTx" presStyleLbl="revTx" presStyleIdx="2" presStyleCnt="5">
        <dgm:presLayoutVars>
          <dgm:chMax val="0"/>
          <dgm:chPref val="0"/>
        </dgm:presLayoutVars>
      </dgm:prSet>
      <dgm:spPr/>
    </dgm:pt>
    <dgm:pt modelId="{6C486D5C-4A7D-4DB3-9235-B4F1D5177473}" type="pres">
      <dgm:prSet presAssocID="{4F21377B-241C-4AF4-90AE-8281037F8D3B}" presName="sibTrans" presStyleCnt="0"/>
      <dgm:spPr/>
    </dgm:pt>
    <dgm:pt modelId="{9E6BD607-2664-483B-BD93-60625F234046}" type="pres">
      <dgm:prSet presAssocID="{14C1278D-9F94-4D8B-BDA6-BF04B0F3621C}" presName="compNode" presStyleCnt="0"/>
      <dgm:spPr/>
    </dgm:pt>
    <dgm:pt modelId="{E47C0650-69C5-4DD8-8CFA-BF893E1EB61C}" type="pres">
      <dgm:prSet presAssocID="{14C1278D-9F94-4D8B-BDA6-BF04B0F3621C}" presName="bgRect" presStyleLbl="bgShp" presStyleIdx="3" presStyleCnt="5"/>
      <dgm:spPr/>
    </dgm:pt>
    <dgm:pt modelId="{722885B6-F092-4AEE-AFD4-BEF8CF2D95DB}" type="pres">
      <dgm:prSet presAssocID="{14C1278D-9F94-4D8B-BDA6-BF04B0F3621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Water"/>
        </a:ext>
      </dgm:extLst>
    </dgm:pt>
    <dgm:pt modelId="{7AF7BB45-70CA-4510-B02B-4452F01680CD}" type="pres">
      <dgm:prSet presAssocID="{14C1278D-9F94-4D8B-BDA6-BF04B0F3621C}" presName="spaceRect" presStyleCnt="0"/>
      <dgm:spPr/>
    </dgm:pt>
    <dgm:pt modelId="{F7A7DB40-B0DB-4C2E-B854-FE84C231CF8E}" type="pres">
      <dgm:prSet presAssocID="{14C1278D-9F94-4D8B-BDA6-BF04B0F3621C}" presName="parTx" presStyleLbl="revTx" presStyleIdx="3" presStyleCnt="5">
        <dgm:presLayoutVars>
          <dgm:chMax val="0"/>
          <dgm:chPref val="0"/>
        </dgm:presLayoutVars>
      </dgm:prSet>
      <dgm:spPr/>
    </dgm:pt>
    <dgm:pt modelId="{3248610B-219A-DA41-9D72-73EF71BD6554}" type="pres">
      <dgm:prSet presAssocID="{BB53A3C6-C64A-4DAD-AFA2-FF33A9A13F37}" presName="sibTrans" presStyleCnt="0"/>
      <dgm:spPr/>
    </dgm:pt>
    <dgm:pt modelId="{257A8BDE-0DCA-D642-96D0-DA55537CCC84}" type="pres">
      <dgm:prSet presAssocID="{3E0B23AE-E97C-7A48-BCF4-D4F0D80809D8}" presName="compNode" presStyleCnt="0"/>
      <dgm:spPr/>
    </dgm:pt>
    <dgm:pt modelId="{54F63510-3936-7444-8B3B-A92E2894CF72}" type="pres">
      <dgm:prSet presAssocID="{3E0B23AE-E97C-7A48-BCF4-D4F0D80809D8}" presName="bgRect" presStyleLbl="bgShp" presStyleIdx="4" presStyleCnt="5"/>
      <dgm:spPr/>
    </dgm:pt>
    <dgm:pt modelId="{D43F05FA-8AFE-3847-BED1-04A727FA7ED0}" type="pres">
      <dgm:prSet presAssocID="{3E0B23AE-E97C-7A48-BCF4-D4F0D80809D8}" presName="iconRect" presStyleLbl="node1" presStyleIdx="4" presStyleCnt="5"/>
      <dgm:spPr>
        <a:blipFill>
          <a:blip xmlns:r="http://schemas.openxmlformats.org/officeDocument/2006/relationships" r:embed="rId6"/>
          <a:srcRect/>
          <a:stretch>
            <a:fillRect l="-28000" r="-28000"/>
          </a:stretch>
        </a:blipFill>
        <a:ln>
          <a:noFill/>
        </a:ln>
      </dgm:spPr>
    </dgm:pt>
    <dgm:pt modelId="{F2E9E308-5A92-AE4C-80C6-3E50559B1717}" type="pres">
      <dgm:prSet presAssocID="{3E0B23AE-E97C-7A48-BCF4-D4F0D80809D8}" presName="spaceRect" presStyleCnt="0"/>
      <dgm:spPr/>
    </dgm:pt>
    <dgm:pt modelId="{539C911D-DA9C-9141-A302-C8C7454D92BB}" type="pres">
      <dgm:prSet presAssocID="{3E0B23AE-E97C-7A48-BCF4-D4F0D80809D8}" presName="parTx" presStyleLbl="revTx" presStyleIdx="4" presStyleCnt="5">
        <dgm:presLayoutVars>
          <dgm:chMax val="0"/>
          <dgm:chPref val="0"/>
        </dgm:presLayoutVars>
      </dgm:prSet>
      <dgm:spPr/>
    </dgm:pt>
  </dgm:ptLst>
  <dgm:cxnLst>
    <dgm:cxn modelId="{16EA0E0D-EF9C-9F48-AC63-A178BB64D42C}" type="presOf" srcId="{E3D2DC58-412E-40A4-BFA6-0736F09E4DE2}" destId="{F431B686-247D-4A7F-95CD-0BBA9BB1CB04}" srcOrd="0" destOrd="0" presId="urn:microsoft.com/office/officeart/2018/2/layout/IconVerticalSolidList"/>
    <dgm:cxn modelId="{7BD1E521-3307-2541-8EEC-B44468E89BED}" type="presOf" srcId="{14C1278D-9F94-4D8B-BDA6-BF04B0F3621C}" destId="{F7A7DB40-B0DB-4C2E-B854-FE84C231CF8E}" srcOrd="0" destOrd="0" presId="urn:microsoft.com/office/officeart/2018/2/layout/IconVerticalSolidList"/>
    <dgm:cxn modelId="{F494F259-424B-5449-96B0-4043AFDDB2CF}" type="presOf" srcId="{A78CB74D-820F-421D-A924-0A466722CA2C}" destId="{B1C7FF6F-9D29-4CED-920E-3D17CC6EF056}" srcOrd="0" destOrd="0" presId="urn:microsoft.com/office/officeart/2018/2/layout/IconVerticalSolidList"/>
    <dgm:cxn modelId="{46DD7681-A628-0140-B48E-B9A0106AF0CB}" type="presOf" srcId="{7CD254B5-6F12-49BB-94BF-7D979BB0840B}" destId="{DA33E67E-9B2D-4ABA-9ED8-27304C184202}" srcOrd="0" destOrd="0" presId="urn:microsoft.com/office/officeart/2018/2/layout/IconVerticalSolidList"/>
    <dgm:cxn modelId="{08CFFD88-6BA8-AD45-AA0A-56942D09C29B}" srcId="{A78CB74D-820F-421D-A924-0A466722CA2C}" destId="{3E0B23AE-E97C-7A48-BCF4-D4F0D80809D8}" srcOrd="4" destOrd="0" parTransId="{6DD7F365-34F8-7840-899F-C5FD64087AD7}" sibTransId="{E1994460-45C0-1D41-8B5A-6B3F82CB1F0C}"/>
    <dgm:cxn modelId="{E7591098-423D-4D3B-8F86-9898012E19AF}" srcId="{A78CB74D-820F-421D-A924-0A466722CA2C}" destId="{DED22E61-1261-4231-898D-D4B2A617B8DF}" srcOrd="2" destOrd="0" parTransId="{A135A39B-E423-4BFF-BDA3-8C274A9F3BA6}" sibTransId="{4F21377B-241C-4AF4-90AE-8281037F8D3B}"/>
    <dgm:cxn modelId="{913138A1-47B3-4852-A995-18A7483DFF7D}" srcId="{A78CB74D-820F-421D-A924-0A466722CA2C}" destId="{14C1278D-9F94-4D8B-BDA6-BF04B0F3621C}" srcOrd="3" destOrd="0" parTransId="{F120186C-6296-47C3-BA87-1C5F42423028}" sibTransId="{BB53A3C6-C64A-4DAD-AFA2-FF33A9A13F37}"/>
    <dgm:cxn modelId="{4914BCA7-ED8F-CC44-A6B0-A0C1DD09B2D5}" type="presOf" srcId="{3E0B23AE-E97C-7A48-BCF4-D4F0D80809D8}" destId="{539C911D-DA9C-9141-A302-C8C7454D92BB}" srcOrd="0" destOrd="0" presId="urn:microsoft.com/office/officeart/2018/2/layout/IconVerticalSolidList"/>
    <dgm:cxn modelId="{4B3DC2B5-C880-4B5D-97F9-F5EAC7480F93}" srcId="{A78CB74D-820F-421D-A924-0A466722CA2C}" destId="{7CD254B5-6F12-49BB-94BF-7D979BB0840B}" srcOrd="0" destOrd="0" parTransId="{60BC103B-F151-4C3B-955F-6BD69A3FFC59}" sibTransId="{4CE5051F-5079-44D2-BD14-90DC7AB1A760}"/>
    <dgm:cxn modelId="{1496B6D8-D587-F44C-A044-8BBAD22ECEA3}" type="presOf" srcId="{DED22E61-1261-4231-898D-D4B2A617B8DF}" destId="{BA2D2231-7318-4FB0-B53E-6CB374A83DBC}" srcOrd="0" destOrd="0" presId="urn:microsoft.com/office/officeart/2018/2/layout/IconVerticalSolidList"/>
    <dgm:cxn modelId="{F09184EA-2A66-44EE-831C-9BB363DE7EC4}" srcId="{A78CB74D-820F-421D-A924-0A466722CA2C}" destId="{E3D2DC58-412E-40A4-BFA6-0736F09E4DE2}" srcOrd="1" destOrd="0" parTransId="{2486CE20-DE83-43A8-8EE8-A9616AAAA07B}" sibTransId="{262C9FB3-A99C-4F3E-82F3-6A81AC653BF5}"/>
    <dgm:cxn modelId="{F15EE849-04E3-7546-8337-2593B1DE2469}" type="presParOf" srcId="{B1C7FF6F-9D29-4CED-920E-3D17CC6EF056}" destId="{54E10E71-072B-4690-A8F9-FED931B95138}" srcOrd="0" destOrd="0" presId="urn:microsoft.com/office/officeart/2018/2/layout/IconVerticalSolidList"/>
    <dgm:cxn modelId="{FCF23463-F65A-014C-A5B4-D620C5639DE1}" type="presParOf" srcId="{54E10E71-072B-4690-A8F9-FED931B95138}" destId="{277F758F-D569-4F3D-80CE-92D805C27C9C}" srcOrd="0" destOrd="0" presId="urn:microsoft.com/office/officeart/2018/2/layout/IconVerticalSolidList"/>
    <dgm:cxn modelId="{2CE13132-3D7C-8140-B050-93CF347E876E}" type="presParOf" srcId="{54E10E71-072B-4690-A8F9-FED931B95138}" destId="{02EA62D8-0F47-4988-A67C-9D2131662CC7}" srcOrd="1" destOrd="0" presId="urn:microsoft.com/office/officeart/2018/2/layout/IconVerticalSolidList"/>
    <dgm:cxn modelId="{88EA3EE4-1037-2245-A553-AE06F25AACDC}" type="presParOf" srcId="{54E10E71-072B-4690-A8F9-FED931B95138}" destId="{E0178804-2BB4-49C1-BF74-862C3FFF1DE5}" srcOrd="2" destOrd="0" presId="urn:microsoft.com/office/officeart/2018/2/layout/IconVerticalSolidList"/>
    <dgm:cxn modelId="{D80EBC0B-5CD3-684C-BA41-DDEE8D5873F0}" type="presParOf" srcId="{54E10E71-072B-4690-A8F9-FED931B95138}" destId="{DA33E67E-9B2D-4ABA-9ED8-27304C184202}" srcOrd="3" destOrd="0" presId="urn:microsoft.com/office/officeart/2018/2/layout/IconVerticalSolidList"/>
    <dgm:cxn modelId="{C6FAEA99-8363-684F-8E21-126084623A19}" type="presParOf" srcId="{B1C7FF6F-9D29-4CED-920E-3D17CC6EF056}" destId="{487AA517-9249-48A6-8FF6-5DBBD9A375E4}" srcOrd="1" destOrd="0" presId="urn:microsoft.com/office/officeart/2018/2/layout/IconVerticalSolidList"/>
    <dgm:cxn modelId="{67CCA62E-18AB-C445-9D9B-D995C05B900D}" type="presParOf" srcId="{B1C7FF6F-9D29-4CED-920E-3D17CC6EF056}" destId="{65C0E412-D8C7-468D-85E4-AC65B087AFAA}" srcOrd="2" destOrd="0" presId="urn:microsoft.com/office/officeart/2018/2/layout/IconVerticalSolidList"/>
    <dgm:cxn modelId="{7D0E1189-C3BE-274E-9EFB-2C0658515AD8}" type="presParOf" srcId="{65C0E412-D8C7-468D-85E4-AC65B087AFAA}" destId="{6495C0C0-8A20-4BAF-A76F-DE7B7C03B40B}" srcOrd="0" destOrd="0" presId="urn:microsoft.com/office/officeart/2018/2/layout/IconVerticalSolidList"/>
    <dgm:cxn modelId="{D5F8E5A1-F878-734C-A388-80DC31D51849}" type="presParOf" srcId="{65C0E412-D8C7-468D-85E4-AC65B087AFAA}" destId="{DC4E42BA-A230-4593-AD1C-07A5B9ADEB48}" srcOrd="1" destOrd="0" presId="urn:microsoft.com/office/officeart/2018/2/layout/IconVerticalSolidList"/>
    <dgm:cxn modelId="{34B43713-1934-3945-8019-5A53751EDBAF}" type="presParOf" srcId="{65C0E412-D8C7-468D-85E4-AC65B087AFAA}" destId="{AD09233B-77B3-4420-BCD3-D416168D396A}" srcOrd="2" destOrd="0" presId="urn:microsoft.com/office/officeart/2018/2/layout/IconVerticalSolidList"/>
    <dgm:cxn modelId="{972D9F4D-34BE-1A4A-BC6D-9A53465EC64E}" type="presParOf" srcId="{65C0E412-D8C7-468D-85E4-AC65B087AFAA}" destId="{F431B686-247D-4A7F-95CD-0BBA9BB1CB04}" srcOrd="3" destOrd="0" presId="urn:microsoft.com/office/officeart/2018/2/layout/IconVerticalSolidList"/>
    <dgm:cxn modelId="{21B8CBB8-D0ED-5648-98D4-9E0813473622}" type="presParOf" srcId="{B1C7FF6F-9D29-4CED-920E-3D17CC6EF056}" destId="{FC889B94-C358-4100-8FF7-04D790371F47}" srcOrd="3" destOrd="0" presId="urn:microsoft.com/office/officeart/2018/2/layout/IconVerticalSolidList"/>
    <dgm:cxn modelId="{8B16C5F7-428E-0547-B56B-30A5C0336FE3}" type="presParOf" srcId="{B1C7FF6F-9D29-4CED-920E-3D17CC6EF056}" destId="{EF07E32A-4A41-4E1F-BC07-193ED767A0B5}" srcOrd="4" destOrd="0" presId="urn:microsoft.com/office/officeart/2018/2/layout/IconVerticalSolidList"/>
    <dgm:cxn modelId="{6320F703-F71B-254C-B14E-69FCE20F4C4B}" type="presParOf" srcId="{EF07E32A-4A41-4E1F-BC07-193ED767A0B5}" destId="{8983AFD2-7524-4FDF-9F5E-A4BBA978FAD7}" srcOrd="0" destOrd="0" presId="urn:microsoft.com/office/officeart/2018/2/layout/IconVerticalSolidList"/>
    <dgm:cxn modelId="{EE53F79D-B783-1642-B5F2-F8BE1660A303}" type="presParOf" srcId="{EF07E32A-4A41-4E1F-BC07-193ED767A0B5}" destId="{0C060C1C-34A2-4BEC-B678-9D1532BCD4EC}" srcOrd="1" destOrd="0" presId="urn:microsoft.com/office/officeart/2018/2/layout/IconVerticalSolidList"/>
    <dgm:cxn modelId="{4AD6D0E7-B57F-E442-B729-271D6AD599CB}" type="presParOf" srcId="{EF07E32A-4A41-4E1F-BC07-193ED767A0B5}" destId="{7FC9A57C-A830-4218-8C82-34B72EC86BBA}" srcOrd="2" destOrd="0" presId="urn:microsoft.com/office/officeart/2018/2/layout/IconVerticalSolidList"/>
    <dgm:cxn modelId="{F673F682-4511-774B-96EB-25BC72D28BB4}" type="presParOf" srcId="{EF07E32A-4A41-4E1F-BC07-193ED767A0B5}" destId="{BA2D2231-7318-4FB0-B53E-6CB374A83DBC}" srcOrd="3" destOrd="0" presId="urn:microsoft.com/office/officeart/2018/2/layout/IconVerticalSolidList"/>
    <dgm:cxn modelId="{6B3C42A0-8AE7-7943-8941-41EEA619D45E}" type="presParOf" srcId="{B1C7FF6F-9D29-4CED-920E-3D17CC6EF056}" destId="{6C486D5C-4A7D-4DB3-9235-B4F1D5177473}" srcOrd="5" destOrd="0" presId="urn:microsoft.com/office/officeart/2018/2/layout/IconVerticalSolidList"/>
    <dgm:cxn modelId="{EB8AF800-2B45-D348-A67E-8428F90E4266}" type="presParOf" srcId="{B1C7FF6F-9D29-4CED-920E-3D17CC6EF056}" destId="{9E6BD607-2664-483B-BD93-60625F234046}" srcOrd="6" destOrd="0" presId="urn:microsoft.com/office/officeart/2018/2/layout/IconVerticalSolidList"/>
    <dgm:cxn modelId="{17AE8A36-67F1-9845-B1AC-2750C6C0E534}" type="presParOf" srcId="{9E6BD607-2664-483B-BD93-60625F234046}" destId="{E47C0650-69C5-4DD8-8CFA-BF893E1EB61C}" srcOrd="0" destOrd="0" presId="urn:microsoft.com/office/officeart/2018/2/layout/IconVerticalSolidList"/>
    <dgm:cxn modelId="{11B85DB7-55CB-3247-A659-3D7FFA76EEDB}" type="presParOf" srcId="{9E6BD607-2664-483B-BD93-60625F234046}" destId="{722885B6-F092-4AEE-AFD4-BEF8CF2D95DB}" srcOrd="1" destOrd="0" presId="urn:microsoft.com/office/officeart/2018/2/layout/IconVerticalSolidList"/>
    <dgm:cxn modelId="{74084B8D-105B-3948-A244-DBBF188F6CA3}" type="presParOf" srcId="{9E6BD607-2664-483B-BD93-60625F234046}" destId="{7AF7BB45-70CA-4510-B02B-4452F01680CD}" srcOrd="2" destOrd="0" presId="urn:microsoft.com/office/officeart/2018/2/layout/IconVerticalSolidList"/>
    <dgm:cxn modelId="{284B12A4-CC25-1E48-B3E5-3A23B73748B0}" type="presParOf" srcId="{9E6BD607-2664-483B-BD93-60625F234046}" destId="{F7A7DB40-B0DB-4C2E-B854-FE84C231CF8E}" srcOrd="3" destOrd="0" presId="urn:microsoft.com/office/officeart/2018/2/layout/IconVerticalSolidList"/>
    <dgm:cxn modelId="{C77461CF-0752-DF4C-9A41-004504E60A0E}" type="presParOf" srcId="{B1C7FF6F-9D29-4CED-920E-3D17CC6EF056}" destId="{3248610B-219A-DA41-9D72-73EF71BD6554}" srcOrd="7" destOrd="0" presId="urn:microsoft.com/office/officeart/2018/2/layout/IconVerticalSolidList"/>
    <dgm:cxn modelId="{8C029CBB-7D3E-F34D-B27C-235F79DF9C95}" type="presParOf" srcId="{B1C7FF6F-9D29-4CED-920E-3D17CC6EF056}" destId="{257A8BDE-0DCA-D642-96D0-DA55537CCC84}" srcOrd="8" destOrd="0" presId="urn:microsoft.com/office/officeart/2018/2/layout/IconVerticalSolidList"/>
    <dgm:cxn modelId="{F74D482C-6DFF-474A-8713-C66DAE552903}" type="presParOf" srcId="{257A8BDE-0DCA-D642-96D0-DA55537CCC84}" destId="{54F63510-3936-7444-8B3B-A92E2894CF72}" srcOrd="0" destOrd="0" presId="urn:microsoft.com/office/officeart/2018/2/layout/IconVerticalSolidList"/>
    <dgm:cxn modelId="{E0DD9193-1B02-2F4F-B0B8-DB1C909C2D14}" type="presParOf" srcId="{257A8BDE-0DCA-D642-96D0-DA55537CCC84}" destId="{D43F05FA-8AFE-3847-BED1-04A727FA7ED0}" srcOrd="1" destOrd="0" presId="urn:microsoft.com/office/officeart/2018/2/layout/IconVerticalSolidList"/>
    <dgm:cxn modelId="{3BB89D10-9F5D-2248-AC43-5C4FC9FF0CF2}" type="presParOf" srcId="{257A8BDE-0DCA-D642-96D0-DA55537CCC84}" destId="{F2E9E308-5A92-AE4C-80C6-3E50559B1717}" srcOrd="2" destOrd="0" presId="urn:microsoft.com/office/officeart/2018/2/layout/IconVerticalSolidList"/>
    <dgm:cxn modelId="{A8219D7F-5FB7-914A-9A9B-74F94F3CD1A8}" type="presParOf" srcId="{257A8BDE-0DCA-D642-96D0-DA55537CCC84}" destId="{539C911D-DA9C-9141-A302-C8C7454D92B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F758F-D569-4F3D-80CE-92D805C27C9C}">
      <dsp:nvSpPr>
        <dsp:cNvPr id="0" name=""/>
        <dsp:cNvSpPr/>
      </dsp:nvSpPr>
      <dsp:spPr>
        <a:xfrm>
          <a:off x="0" y="3619"/>
          <a:ext cx="7394611" cy="4336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EA62D8-0F47-4988-A67C-9D2131662CC7}">
      <dsp:nvSpPr>
        <dsp:cNvPr id="0" name=""/>
        <dsp:cNvSpPr/>
      </dsp:nvSpPr>
      <dsp:spPr>
        <a:xfrm>
          <a:off x="131178" y="101190"/>
          <a:ext cx="238740" cy="238506"/>
        </a:xfrm>
        <a:prstGeom prst="quadArrowCallout">
          <a:avLst/>
        </a:prstGeom>
        <a:blipFill>
          <a:blip xmlns:r="http://schemas.openxmlformats.org/officeDocument/2006/relationships" r:embed="rId1">
            <a:extLst>
              <a:ext uri="{837473B0-CC2E-450A-ABE3-18F120FF3D39}">
                <a1611:picAttrSrcUrl xmlns:a1611="http://schemas.microsoft.com/office/drawing/2016/11/main" r:i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33E67E-9B2D-4ABA-9ED8-27304C184202}">
      <dsp:nvSpPr>
        <dsp:cNvPr id="0" name=""/>
        <dsp:cNvSpPr/>
      </dsp:nvSpPr>
      <dsp:spPr>
        <a:xfrm>
          <a:off x="501097" y="3619"/>
          <a:ext cx="6870874" cy="474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197" tIns="50197" rIns="50197" bIns="50197"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Models:</a:t>
          </a:r>
          <a:r>
            <a:rPr lang="en-US" sz="1400" b="0" i="0" kern="1200" baseline="0" dirty="0"/>
            <a:t> Mistral 7B · Gemma 3 4B · Llama 3.1 8B · GPT-5.2</a:t>
          </a:r>
          <a:endParaRPr lang="en-US" sz="1400" kern="1200" dirty="0"/>
        </a:p>
      </dsp:txBody>
      <dsp:txXfrm>
        <a:off x="501097" y="3619"/>
        <a:ext cx="6870874" cy="474303"/>
      </dsp:txXfrm>
    </dsp:sp>
    <dsp:sp modelId="{6495C0C0-8A20-4BAF-A76F-DE7B7C03B40B}">
      <dsp:nvSpPr>
        <dsp:cNvPr id="0" name=""/>
        <dsp:cNvSpPr/>
      </dsp:nvSpPr>
      <dsp:spPr>
        <a:xfrm>
          <a:off x="0" y="596499"/>
          <a:ext cx="7394611" cy="4336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4E42BA-A230-4593-AD1C-07A5B9ADEB48}">
      <dsp:nvSpPr>
        <dsp:cNvPr id="0" name=""/>
        <dsp:cNvSpPr/>
      </dsp:nvSpPr>
      <dsp:spPr>
        <a:xfrm>
          <a:off x="131178" y="694070"/>
          <a:ext cx="238740" cy="2385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31B686-247D-4A7F-95CD-0BBA9BB1CB04}">
      <dsp:nvSpPr>
        <dsp:cNvPr id="0" name=""/>
        <dsp:cNvSpPr/>
      </dsp:nvSpPr>
      <dsp:spPr>
        <a:xfrm>
          <a:off x="501097" y="596499"/>
          <a:ext cx="6870874" cy="474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197" tIns="50197" rIns="50197" bIns="50197"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Prompt variants:</a:t>
          </a:r>
          <a:r>
            <a:rPr lang="en-US" sz="1400" b="0" i="0" kern="1200" baseline="0" dirty="0"/>
            <a:t> V0–V</a:t>
          </a:r>
          <a:r>
            <a:rPr lang="en-US" altLang="zh-CN" sz="1400" b="0" i="0" kern="1200" baseline="0" dirty="0"/>
            <a:t>5</a:t>
          </a:r>
          <a:endParaRPr lang="en-US" sz="1400" kern="1200" dirty="0"/>
        </a:p>
      </dsp:txBody>
      <dsp:txXfrm>
        <a:off x="501097" y="596499"/>
        <a:ext cx="6870874" cy="474303"/>
      </dsp:txXfrm>
    </dsp:sp>
    <dsp:sp modelId="{8983AFD2-7524-4FDF-9F5E-A4BBA978FAD7}">
      <dsp:nvSpPr>
        <dsp:cNvPr id="0" name=""/>
        <dsp:cNvSpPr/>
      </dsp:nvSpPr>
      <dsp:spPr>
        <a:xfrm>
          <a:off x="0" y="1189378"/>
          <a:ext cx="7394611" cy="4336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060C1C-34A2-4BEC-B678-9D1532BCD4EC}">
      <dsp:nvSpPr>
        <dsp:cNvPr id="0" name=""/>
        <dsp:cNvSpPr/>
      </dsp:nvSpPr>
      <dsp:spPr>
        <a:xfrm>
          <a:off x="131178" y="1286949"/>
          <a:ext cx="238740" cy="2385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D2231-7318-4FB0-B53E-6CB374A83DBC}">
      <dsp:nvSpPr>
        <dsp:cNvPr id="0" name=""/>
        <dsp:cNvSpPr/>
      </dsp:nvSpPr>
      <dsp:spPr>
        <a:xfrm>
          <a:off x="501097" y="1189378"/>
          <a:ext cx="6870874" cy="474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197" tIns="50197" rIns="50197" bIns="50197" numCol="1" spcCol="1270" anchor="ctr" anchorCtr="0">
          <a:noAutofit/>
        </a:bodyPr>
        <a:lstStyle/>
        <a:p>
          <a:pPr marL="0" lvl="0" indent="0" algn="l" defTabSz="622300">
            <a:lnSpc>
              <a:spcPct val="90000"/>
            </a:lnSpc>
            <a:spcBef>
              <a:spcPct val="0"/>
            </a:spcBef>
            <a:spcAft>
              <a:spcPct val="35000"/>
            </a:spcAft>
            <a:buNone/>
          </a:pPr>
          <a:r>
            <a:rPr lang="en-US" sz="1400" b="1" i="0" kern="1200" baseline="0"/>
            <a:t>Inputs:</a:t>
          </a:r>
          <a:r>
            <a:rPr lang="en-US" sz="1400" b="0" i="0" kern="1200" baseline="0"/>
            <a:t> 47 service-relevant scenarios</a:t>
          </a:r>
          <a:endParaRPr lang="en-US" sz="1400" kern="1200"/>
        </a:p>
      </dsp:txBody>
      <dsp:txXfrm>
        <a:off x="501097" y="1189378"/>
        <a:ext cx="6870874" cy="474303"/>
      </dsp:txXfrm>
    </dsp:sp>
    <dsp:sp modelId="{E47C0650-69C5-4DD8-8CFA-BF893E1EB61C}">
      <dsp:nvSpPr>
        <dsp:cNvPr id="0" name=""/>
        <dsp:cNvSpPr/>
      </dsp:nvSpPr>
      <dsp:spPr>
        <a:xfrm>
          <a:off x="0" y="1782258"/>
          <a:ext cx="7394611" cy="4336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2885B6-F092-4AEE-AFD4-BEF8CF2D95DB}">
      <dsp:nvSpPr>
        <dsp:cNvPr id="0" name=""/>
        <dsp:cNvSpPr/>
      </dsp:nvSpPr>
      <dsp:spPr>
        <a:xfrm>
          <a:off x="131178" y="1879829"/>
          <a:ext cx="238740" cy="23850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A7DB40-B0DB-4C2E-B854-FE84C231CF8E}">
      <dsp:nvSpPr>
        <dsp:cNvPr id="0" name=""/>
        <dsp:cNvSpPr/>
      </dsp:nvSpPr>
      <dsp:spPr>
        <a:xfrm>
          <a:off x="501097" y="1782258"/>
          <a:ext cx="6870874" cy="474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197" tIns="50197" rIns="50197" bIns="50197" numCol="1" spcCol="1270" anchor="ctr" anchorCtr="0">
          <a:noAutofit/>
        </a:bodyPr>
        <a:lstStyle/>
        <a:p>
          <a:pPr marL="0" lvl="0" indent="0" algn="l" defTabSz="622300">
            <a:lnSpc>
              <a:spcPct val="90000"/>
            </a:lnSpc>
            <a:spcBef>
              <a:spcPct val="0"/>
            </a:spcBef>
            <a:spcAft>
              <a:spcPct val="35000"/>
            </a:spcAft>
            <a:buNone/>
          </a:pPr>
          <a:r>
            <a:rPr lang="en-US" sz="1400" b="1" i="0" kern="1200" baseline="0" dirty="0"/>
            <a:t>Outputs:</a:t>
          </a:r>
          <a:r>
            <a:rPr lang="en-US" sz="1400" b="0" i="0" kern="1200" baseline="0" dirty="0"/>
            <a:t> 1,128 single-turn responses (47 scenarios*6 iterations*4 models)</a:t>
          </a:r>
          <a:endParaRPr lang="en-US" sz="1400" kern="1200" dirty="0"/>
        </a:p>
      </dsp:txBody>
      <dsp:txXfrm>
        <a:off x="501097" y="1782258"/>
        <a:ext cx="6870874" cy="474303"/>
      </dsp:txXfrm>
    </dsp:sp>
    <dsp:sp modelId="{54F63510-3936-7444-8B3B-A92E2894CF72}">
      <dsp:nvSpPr>
        <dsp:cNvPr id="0" name=""/>
        <dsp:cNvSpPr/>
      </dsp:nvSpPr>
      <dsp:spPr>
        <a:xfrm>
          <a:off x="0" y="2375137"/>
          <a:ext cx="7394611" cy="43364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3F05FA-8AFE-3847-BED1-04A727FA7ED0}">
      <dsp:nvSpPr>
        <dsp:cNvPr id="0" name=""/>
        <dsp:cNvSpPr/>
      </dsp:nvSpPr>
      <dsp:spPr>
        <a:xfrm>
          <a:off x="131307" y="2472708"/>
          <a:ext cx="238740" cy="238506"/>
        </a:xfrm>
        <a:prstGeom prst="rect">
          <a:avLst/>
        </a:prstGeom>
        <a:blipFill>
          <a:blip xmlns:r="http://schemas.openxmlformats.org/officeDocument/2006/relationships" r:embed="rId6"/>
          <a:srcRect/>
          <a:stretch>
            <a:fillRect l="-28000" r="-28000"/>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9C911D-DA9C-9141-A302-C8C7454D92BB}">
      <dsp:nvSpPr>
        <dsp:cNvPr id="0" name=""/>
        <dsp:cNvSpPr/>
      </dsp:nvSpPr>
      <dsp:spPr>
        <a:xfrm>
          <a:off x="501354" y="2375137"/>
          <a:ext cx="6846254" cy="474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197" tIns="50197" rIns="50197" bIns="50197" numCol="1" spcCol="1270" anchor="ctr" anchorCtr="0">
          <a:noAutofit/>
        </a:bodyPr>
        <a:lstStyle/>
        <a:p>
          <a:pPr marL="0" lvl="0" indent="0" algn="l" defTabSz="622300">
            <a:lnSpc>
              <a:spcPct val="90000"/>
            </a:lnSpc>
            <a:spcBef>
              <a:spcPct val="0"/>
            </a:spcBef>
            <a:spcAft>
              <a:spcPct val="35000"/>
            </a:spcAft>
            <a:buNone/>
          </a:pPr>
          <a:r>
            <a:rPr lang="en-GB" sz="1400" b="1" kern="1200" dirty="0"/>
            <a:t>Analyse: </a:t>
          </a:r>
          <a:r>
            <a:rPr lang="en-GB" sz="1400" kern="1200" dirty="0"/>
            <a:t>Computed domain scores and analysed iteration trends using grouped means and SBERT.</a:t>
          </a:r>
          <a:endParaRPr lang="en-US" sz="1400" kern="1200" dirty="0"/>
        </a:p>
      </dsp:txBody>
      <dsp:txXfrm>
        <a:off x="501354" y="2375137"/>
        <a:ext cx="6846254" cy="4743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BA401E-5089-4487-9D82-7DB35038CF5F}"/>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atin typeface="Arial" panose="020B0604020202020204" pitchFamily="34" charset="0"/>
                <a:ea typeface="ＭＳ Ｐゴシック" panose="020B0600070205080204" pitchFamily="34" charset="-128"/>
              </a:defRPr>
            </a:lvl1pPr>
          </a:lstStyle>
          <a:p>
            <a:pPr>
              <a:defRPr/>
            </a:pPr>
            <a:endParaRPr lang="en-GB"/>
          </a:p>
        </p:txBody>
      </p:sp>
      <p:sp>
        <p:nvSpPr>
          <p:cNvPr id="3" name="Date Placeholder 2">
            <a:extLst>
              <a:ext uri="{FF2B5EF4-FFF2-40B4-BE49-F238E27FC236}">
                <a16:creationId xmlns:a16="http://schemas.microsoft.com/office/drawing/2014/main" id="{6769E9B9-9F13-4544-B0B5-422CCE793769}"/>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atin typeface="Arial" panose="020B0604020202020204" pitchFamily="34" charset="0"/>
                <a:ea typeface="ＭＳ Ｐゴシック" panose="020B0600070205080204" pitchFamily="34" charset="-128"/>
              </a:defRPr>
            </a:lvl1pPr>
          </a:lstStyle>
          <a:p>
            <a:pPr>
              <a:defRPr/>
            </a:pPr>
            <a:fld id="{E2C8AF6F-5489-4B50-8180-9E6118FC16F5}" type="datetimeFigureOut">
              <a:rPr lang="en-GB"/>
              <a:pPr>
                <a:defRPr/>
              </a:pPr>
              <a:t>03/06/2026</a:t>
            </a:fld>
            <a:endParaRPr lang="en-GB" dirty="0"/>
          </a:p>
        </p:txBody>
      </p:sp>
      <p:sp>
        <p:nvSpPr>
          <p:cNvPr id="4" name="Footer Placeholder 3">
            <a:extLst>
              <a:ext uri="{FF2B5EF4-FFF2-40B4-BE49-F238E27FC236}">
                <a16:creationId xmlns:a16="http://schemas.microsoft.com/office/drawing/2014/main" id="{CAE6326A-2D3E-4D1F-AD1E-6E6615C15A01}"/>
              </a:ext>
            </a:extLst>
          </p:cNvPr>
          <p:cNvSpPr>
            <a:spLocks noGrp="1"/>
          </p:cNvSpPr>
          <p:nvPr>
            <p:ph type="ftr" sz="quarter" idx="2"/>
          </p:nvPr>
        </p:nvSpPr>
        <p:spPr>
          <a:xfrm>
            <a:off x="0" y="9445625"/>
            <a:ext cx="2949575" cy="498475"/>
          </a:xfrm>
          <a:prstGeom prst="rect">
            <a:avLst/>
          </a:prstGeom>
        </p:spPr>
        <p:txBody>
          <a:bodyPr vert="horz" lIns="91440" tIns="45720" rIns="91440" bIns="45720" rtlCol="0" anchor="b"/>
          <a:lstStyle>
            <a:lvl1pPr algn="l">
              <a:defRPr sz="1200">
                <a:latin typeface="Arial" panose="020B0604020202020204" pitchFamily="34" charset="0"/>
                <a:ea typeface="ＭＳ Ｐゴシック" panose="020B0600070205080204" pitchFamily="34" charset="-128"/>
              </a:defRPr>
            </a:lvl1pPr>
          </a:lstStyle>
          <a:p>
            <a:pPr>
              <a:defRPr/>
            </a:pPr>
            <a:endParaRPr lang="en-GB"/>
          </a:p>
        </p:txBody>
      </p:sp>
      <p:sp>
        <p:nvSpPr>
          <p:cNvPr id="5" name="Slide Number Placeholder 4">
            <a:extLst>
              <a:ext uri="{FF2B5EF4-FFF2-40B4-BE49-F238E27FC236}">
                <a16:creationId xmlns:a16="http://schemas.microsoft.com/office/drawing/2014/main" id="{2A9F1AC0-6870-4974-95B7-D61C33106864}"/>
              </a:ext>
            </a:extLst>
          </p:cNvPr>
          <p:cNvSpPr>
            <a:spLocks noGrp="1"/>
          </p:cNvSpPr>
          <p:nvPr>
            <p:ph type="sldNum" sz="quarter" idx="3"/>
          </p:nvPr>
        </p:nvSpPr>
        <p:spPr>
          <a:xfrm>
            <a:off x="3854450" y="9445625"/>
            <a:ext cx="2949575" cy="498475"/>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6E46B2E9-6633-44AE-A30B-94B6D1EBAE2F}"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CF69B0-7AB4-4D4D-BB5B-03782D3E42D9}"/>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46436275-13F8-42B0-9A8D-90A3C025875A}"/>
              </a:ext>
            </a:extLst>
          </p:cNvPr>
          <p:cNvSpPr>
            <a:spLocks noGrp="1"/>
          </p:cNvSpPr>
          <p:nvPr>
            <p:ph type="dt" idx="1"/>
          </p:nvPr>
        </p:nvSpPr>
        <p:spPr>
          <a:xfrm>
            <a:off x="3854450" y="0"/>
            <a:ext cx="2949575" cy="498475"/>
          </a:xfrm>
          <a:prstGeom prst="rect">
            <a:avLst/>
          </a:prstGeom>
        </p:spPr>
        <p:txBody>
          <a:bodyPr vert="horz" lIns="91440" tIns="45720" rIns="91440" bIns="45720" rtlCol="0"/>
          <a:lstStyle>
            <a:lvl1pPr algn="r">
              <a:defRPr sz="1200">
                <a:latin typeface="Arial" charset="0"/>
                <a:ea typeface="ＭＳ Ｐゴシック" charset="-128"/>
              </a:defRPr>
            </a:lvl1pPr>
          </a:lstStyle>
          <a:p>
            <a:pPr>
              <a:defRPr/>
            </a:pPr>
            <a:fld id="{4EF00398-0977-40A4-B2BD-A2D0611E9E5E}" type="datetimeFigureOut">
              <a:rPr lang="en-US"/>
              <a:pPr>
                <a:defRPr/>
              </a:pPr>
              <a:t>6/3/26</a:t>
            </a:fld>
            <a:endParaRPr lang="en-US" dirty="0"/>
          </a:p>
        </p:txBody>
      </p:sp>
      <p:sp>
        <p:nvSpPr>
          <p:cNvPr id="4" name="Slide Image Placeholder 3">
            <a:extLst>
              <a:ext uri="{FF2B5EF4-FFF2-40B4-BE49-F238E27FC236}">
                <a16:creationId xmlns:a16="http://schemas.microsoft.com/office/drawing/2014/main" id="{BCDF6CBA-F5F1-486B-B503-6CEB8365A653}"/>
              </a:ext>
            </a:extLst>
          </p:cNvPr>
          <p:cNvSpPr>
            <a:spLocks noGrp="1" noRot="1" noChangeAspect="1"/>
          </p:cNvSpPr>
          <p:nvPr>
            <p:ph type="sldImg" idx="2"/>
          </p:nvPr>
        </p:nvSpPr>
        <p:spPr>
          <a:xfrm>
            <a:off x="420688" y="1243013"/>
            <a:ext cx="5964237" cy="3355975"/>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AB9CE170-BB10-4918-9E05-A10BE5B86375}"/>
              </a:ext>
            </a:extLst>
          </p:cNvPr>
          <p:cNvSpPr>
            <a:spLocks noGrp="1"/>
          </p:cNvSpPr>
          <p:nvPr>
            <p:ph type="body" sz="quarter" idx="3"/>
          </p:nvPr>
        </p:nvSpPr>
        <p:spPr>
          <a:xfrm>
            <a:off x="681038" y="4786313"/>
            <a:ext cx="5443537" cy="3914775"/>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48A2CAFC-08F6-4FB7-A1EC-FD1DF619F065}"/>
              </a:ext>
            </a:extLst>
          </p:cNvPr>
          <p:cNvSpPr>
            <a:spLocks noGrp="1"/>
          </p:cNvSpPr>
          <p:nvPr>
            <p:ph type="ftr" sz="quarter" idx="4"/>
          </p:nvPr>
        </p:nvSpPr>
        <p:spPr>
          <a:xfrm>
            <a:off x="0" y="9445625"/>
            <a:ext cx="2949575" cy="498475"/>
          </a:xfrm>
          <a:prstGeom prst="rect">
            <a:avLst/>
          </a:prstGeom>
        </p:spPr>
        <p:txBody>
          <a:bodyPr vert="horz" lIns="91440" tIns="45720" rIns="91440" bIns="45720" rtlCol="0" anchor="b"/>
          <a:lstStyle>
            <a:lvl1pPr algn="l">
              <a:defRPr sz="1200">
                <a:latin typeface="Arial" charset="0"/>
                <a:ea typeface="ＭＳ Ｐゴシック" charset="-128"/>
              </a:defRPr>
            </a:lvl1pPr>
          </a:lstStyle>
          <a:p>
            <a:pPr>
              <a:defRPr/>
            </a:pPr>
            <a:endParaRPr lang="en-US"/>
          </a:p>
        </p:txBody>
      </p:sp>
      <p:sp>
        <p:nvSpPr>
          <p:cNvPr id="7" name="Slide Number Placeholder 6">
            <a:extLst>
              <a:ext uri="{FF2B5EF4-FFF2-40B4-BE49-F238E27FC236}">
                <a16:creationId xmlns:a16="http://schemas.microsoft.com/office/drawing/2014/main" id="{26C7A2C1-7375-438D-A196-6C308E2C3053}"/>
              </a:ext>
            </a:extLst>
          </p:cNvPr>
          <p:cNvSpPr>
            <a:spLocks noGrp="1"/>
          </p:cNvSpPr>
          <p:nvPr>
            <p:ph type="sldNum" sz="quarter" idx="5"/>
          </p:nvPr>
        </p:nvSpPr>
        <p:spPr>
          <a:xfrm>
            <a:off x="3854450" y="9445625"/>
            <a:ext cx="2949575" cy="498475"/>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15DA4178-8E38-403A-A699-810AE77A25A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5DA4178-8E38-403A-A699-810AE77A25AC}" type="slidenum">
              <a:rPr lang="en-US" altLang="en-US" smtClean="0"/>
              <a:pPr>
                <a:defRPr/>
              </a:pPr>
              <a:t>5</a:t>
            </a:fld>
            <a:endParaRPr lang="en-US" altLang="en-US"/>
          </a:p>
        </p:txBody>
      </p:sp>
    </p:spTree>
    <p:extLst>
      <p:ext uri="{BB962C8B-B14F-4D97-AF65-F5344CB8AC3E}">
        <p14:creationId xmlns:p14="http://schemas.microsoft.com/office/powerpoint/2010/main" val="1484706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AA476-DA3A-CD8A-D53C-DB399D4E8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039A1-6F27-96A2-1880-F7DC17D91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F5274-7E88-2215-69F8-DD9AAD7443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7946BE-EC14-FF60-FE01-CA97A009AF64}"/>
              </a:ext>
            </a:extLst>
          </p:cNvPr>
          <p:cNvSpPr>
            <a:spLocks noGrp="1"/>
          </p:cNvSpPr>
          <p:nvPr>
            <p:ph type="sldNum" sz="quarter" idx="5"/>
          </p:nvPr>
        </p:nvSpPr>
        <p:spPr/>
        <p:txBody>
          <a:bodyPr/>
          <a:lstStyle/>
          <a:p>
            <a:pPr>
              <a:defRPr/>
            </a:pPr>
            <a:fld id="{15DA4178-8E38-403A-A699-810AE77A25AC}" type="slidenum">
              <a:rPr lang="en-US" altLang="en-US" smtClean="0"/>
              <a:pPr>
                <a:defRPr/>
              </a:pPr>
              <a:t>6</a:t>
            </a:fld>
            <a:endParaRPr lang="en-US" altLang="en-US"/>
          </a:p>
        </p:txBody>
      </p:sp>
    </p:spTree>
    <p:extLst>
      <p:ext uri="{BB962C8B-B14F-4D97-AF65-F5344CB8AC3E}">
        <p14:creationId xmlns:p14="http://schemas.microsoft.com/office/powerpoint/2010/main" val="3740145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5DA4178-8E38-403A-A699-810AE77A25AC}" type="slidenum">
              <a:rPr lang="en-US" altLang="en-US" smtClean="0"/>
              <a:pPr>
                <a:defRPr/>
              </a:pPr>
              <a:t>7</a:t>
            </a:fld>
            <a:endParaRPr lang="en-US" altLang="en-US"/>
          </a:p>
        </p:txBody>
      </p:sp>
    </p:spTree>
    <p:extLst>
      <p:ext uri="{BB962C8B-B14F-4D97-AF65-F5344CB8AC3E}">
        <p14:creationId xmlns:p14="http://schemas.microsoft.com/office/powerpoint/2010/main" val="9008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D9A1A-87A2-3D45-CECC-7E9D53E1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33CB0-7765-A2EC-2AD3-27A6C632E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A947A-4AAE-8579-0DC6-C07C6602AE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742016-2BDD-3398-4E91-FC52BCF041AB}"/>
              </a:ext>
            </a:extLst>
          </p:cNvPr>
          <p:cNvSpPr>
            <a:spLocks noGrp="1"/>
          </p:cNvSpPr>
          <p:nvPr>
            <p:ph type="sldNum" sz="quarter" idx="5"/>
          </p:nvPr>
        </p:nvSpPr>
        <p:spPr/>
        <p:txBody>
          <a:bodyPr/>
          <a:lstStyle/>
          <a:p>
            <a:pPr>
              <a:defRPr/>
            </a:pPr>
            <a:fld id="{15DA4178-8E38-403A-A699-810AE77A25AC}" type="slidenum">
              <a:rPr lang="en-US" altLang="en-US" smtClean="0"/>
              <a:pPr>
                <a:defRPr/>
              </a:pPr>
              <a:t>8</a:t>
            </a:fld>
            <a:endParaRPr lang="en-US" altLang="en-US"/>
          </a:p>
        </p:txBody>
      </p:sp>
    </p:spTree>
    <p:extLst>
      <p:ext uri="{BB962C8B-B14F-4D97-AF65-F5344CB8AC3E}">
        <p14:creationId xmlns:p14="http://schemas.microsoft.com/office/powerpoint/2010/main" val="2640267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24903-5849-5186-D07A-948DB0D59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154D1-F1F5-E6A4-835C-D3B7AF3D0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C3538-58A2-C20E-4064-7246E46FBB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342760-A4CF-00B7-5E1C-44588077B133}"/>
              </a:ext>
            </a:extLst>
          </p:cNvPr>
          <p:cNvSpPr>
            <a:spLocks noGrp="1"/>
          </p:cNvSpPr>
          <p:nvPr>
            <p:ph type="sldNum" sz="quarter" idx="5"/>
          </p:nvPr>
        </p:nvSpPr>
        <p:spPr/>
        <p:txBody>
          <a:bodyPr/>
          <a:lstStyle/>
          <a:p>
            <a:pPr>
              <a:defRPr/>
            </a:pPr>
            <a:fld id="{15DA4178-8E38-403A-A699-810AE77A25AC}" type="slidenum">
              <a:rPr lang="en-US" altLang="en-US" smtClean="0"/>
              <a:pPr>
                <a:defRPr/>
              </a:pPr>
              <a:t>9</a:t>
            </a:fld>
            <a:endParaRPr lang="en-US" altLang="en-US"/>
          </a:p>
        </p:txBody>
      </p:sp>
    </p:spTree>
    <p:extLst>
      <p:ext uri="{BB962C8B-B14F-4D97-AF65-F5344CB8AC3E}">
        <p14:creationId xmlns:p14="http://schemas.microsoft.com/office/powerpoint/2010/main" val="3833924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5DA4178-8E38-403A-A699-810AE77A25AC}" type="slidenum">
              <a:rPr lang="en-US" altLang="en-US" smtClean="0"/>
              <a:pPr>
                <a:defRPr/>
              </a:pPr>
              <a:t>10</a:t>
            </a:fld>
            <a:endParaRPr lang="en-US" altLang="en-US"/>
          </a:p>
        </p:txBody>
      </p:sp>
    </p:spTree>
    <p:extLst>
      <p:ext uri="{BB962C8B-B14F-4D97-AF65-F5344CB8AC3E}">
        <p14:creationId xmlns:p14="http://schemas.microsoft.com/office/powerpoint/2010/main" val="2331055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F838A-D690-4994-FE00-54A6C6255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2D7DD-8218-DB2B-D1E1-A89A46E0D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1577F-F9CB-978A-54B0-C535DAD2B6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DC2D70-2B0E-4D12-2E89-404F6A4AEA5C}"/>
              </a:ext>
            </a:extLst>
          </p:cNvPr>
          <p:cNvSpPr>
            <a:spLocks noGrp="1"/>
          </p:cNvSpPr>
          <p:nvPr>
            <p:ph type="sldNum" sz="quarter" idx="5"/>
          </p:nvPr>
        </p:nvSpPr>
        <p:spPr/>
        <p:txBody>
          <a:bodyPr/>
          <a:lstStyle/>
          <a:p>
            <a:pPr>
              <a:defRPr/>
            </a:pPr>
            <a:fld id="{15DA4178-8E38-403A-A699-810AE77A25AC}" type="slidenum">
              <a:rPr lang="en-US" altLang="en-US" smtClean="0"/>
              <a:pPr>
                <a:defRPr/>
              </a:pPr>
              <a:t>11</a:t>
            </a:fld>
            <a:endParaRPr lang="en-US" altLang="en-US"/>
          </a:p>
        </p:txBody>
      </p:sp>
    </p:spTree>
    <p:extLst>
      <p:ext uri="{BB962C8B-B14F-4D97-AF65-F5344CB8AC3E}">
        <p14:creationId xmlns:p14="http://schemas.microsoft.com/office/powerpoint/2010/main" val="641577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E904-9DC1-7569-6326-19396099C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15E81-85DD-CA7A-9F33-4A6EE0437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2B682-B001-0FB8-5AF7-C1F8746ED6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43DEEA-F201-1172-446C-D4BA55DCFD57}"/>
              </a:ext>
            </a:extLst>
          </p:cNvPr>
          <p:cNvSpPr>
            <a:spLocks noGrp="1"/>
          </p:cNvSpPr>
          <p:nvPr>
            <p:ph type="sldNum" sz="quarter" idx="5"/>
          </p:nvPr>
        </p:nvSpPr>
        <p:spPr/>
        <p:txBody>
          <a:bodyPr/>
          <a:lstStyle/>
          <a:p>
            <a:pPr>
              <a:defRPr/>
            </a:pPr>
            <a:fld id="{15DA4178-8E38-403A-A699-810AE77A25AC}" type="slidenum">
              <a:rPr lang="en-US" altLang="en-US" smtClean="0"/>
              <a:pPr>
                <a:defRPr/>
              </a:pPr>
              <a:t>12</a:t>
            </a:fld>
            <a:endParaRPr lang="en-US" altLang="en-US"/>
          </a:p>
        </p:txBody>
      </p:sp>
    </p:spTree>
    <p:extLst>
      <p:ext uri="{BB962C8B-B14F-4D97-AF65-F5344CB8AC3E}">
        <p14:creationId xmlns:p14="http://schemas.microsoft.com/office/powerpoint/2010/main" val="3932121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60E84-870B-D401-C63D-E5D1D6E52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0B156-0254-CAEA-CDF6-AFC82355D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9F23FE-9547-0FAA-6FA1-3D7CBCCE6D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DD7C76-D8A0-C10D-F6FB-D53D5E850261}"/>
              </a:ext>
            </a:extLst>
          </p:cNvPr>
          <p:cNvSpPr>
            <a:spLocks noGrp="1"/>
          </p:cNvSpPr>
          <p:nvPr>
            <p:ph type="sldNum" sz="quarter" idx="5"/>
          </p:nvPr>
        </p:nvSpPr>
        <p:spPr/>
        <p:txBody>
          <a:bodyPr/>
          <a:lstStyle/>
          <a:p>
            <a:pPr>
              <a:defRPr/>
            </a:pPr>
            <a:fld id="{15DA4178-8E38-403A-A699-810AE77A25AC}" type="slidenum">
              <a:rPr lang="en-US" altLang="en-US" smtClean="0"/>
              <a:pPr>
                <a:defRPr/>
              </a:pPr>
              <a:t>13</a:t>
            </a:fld>
            <a:endParaRPr lang="en-US" altLang="en-US"/>
          </a:p>
        </p:txBody>
      </p:sp>
    </p:spTree>
    <p:extLst>
      <p:ext uri="{BB962C8B-B14F-4D97-AF65-F5344CB8AC3E}">
        <p14:creationId xmlns:p14="http://schemas.microsoft.com/office/powerpoint/2010/main" val="4117471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C5072-5973-537C-3BB3-26020C387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79A54-2C3A-FBEB-4C89-EB4A6D3AE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CEE78-77E7-974C-81C3-B3B90D2642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5B610B-BE25-6ADA-D140-E593E7C829CB}"/>
              </a:ext>
            </a:extLst>
          </p:cNvPr>
          <p:cNvSpPr>
            <a:spLocks noGrp="1"/>
          </p:cNvSpPr>
          <p:nvPr>
            <p:ph type="sldNum" sz="quarter" idx="5"/>
          </p:nvPr>
        </p:nvSpPr>
        <p:spPr/>
        <p:txBody>
          <a:bodyPr/>
          <a:lstStyle/>
          <a:p>
            <a:pPr>
              <a:defRPr/>
            </a:pPr>
            <a:fld id="{15DA4178-8E38-403A-A699-810AE77A25AC}" type="slidenum">
              <a:rPr lang="en-US" altLang="en-US" smtClean="0"/>
              <a:pPr>
                <a:defRPr/>
              </a:pPr>
              <a:t>14</a:t>
            </a:fld>
            <a:endParaRPr lang="en-US" altLang="en-US"/>
          </a:p>
        </p:txBody>
      </p:sp>
    </p:spTree>
    <p:extLst>
      <p:ext uri="{BB962C8B-B14F-4D97-AF65-F5344CB8AC3E}">
        <p14:creationId xmlns:p14="http://schemas.microsoft.com/office/powerpoint/2010/main" val="672600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F5BD-91AB-8BA2-EC35-7C178BEDF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B1045-D3E9-8475-0E16-42B5F8E92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DB5CCB-694E-7797-19A1-2577DDCFBD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2E8FF6-6A07-4414-308B-B231A55FD8CD}"/>
              </a:ext>
            </a:extLst>
          </p:cNvPr>
          <p:cNvSpPr>
            <a:spLocks noGrp="1"/>
          </p:cNvSpPr>
          <p:nvPr>
            <p:ph type="sldNum" sz="quarter" idx="5"/>
          </p:nvPr>
        </p:nvSpPr>
        <p:spPr/>
        <p:txBody>
          <a:bodyPr/>
          <a:lstStyle/>
          <a:p>
            <a:pPr>
              <a:defRPr/>
            </a:pPr>
            <a:fld id="{15DA4178-8E38-403A-A699-810AE77A25AC}" type="slidenum">
              <a:rPr lang="en-US" altLang="en-US" smtClean="0"/>
              <a:pPr>
                <a:defRPr/>
              </a:pPr>
              <a:t>15</a:t>
            </a:fld>
            <a:endParaRPr lang="en-US" altLang="en-US"/>
          </a:p>
        </p:txBody>
      </p:sp>
    </p:spTree>
    <p:extLst>
      <p:ext uri="{BB962C8B-B14F-4D97-AF65-F5344CB8AC3E}">
        <p14:creationId xmlns:p14="http://schemas.microsoft.com/office/powerpoint/2010/main" val="35933035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DB862-8BAE-55C4-7449-C21877529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6F6F8-CF8B-A631-D6AF-BEF9716AB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468B0-8A75-F8F2-1B3A-333E4C04F8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7B0CC1-67FE-EDB6-A5D6-6C01673F1FAA}"/>
              </a:ext>
            </a:extLst>
          </p:cNvPr>
          <p:cNvSpPr>
            <a:spLocks noGrp="1"/>
          </p:cNvSpPr>
          <p:nvPr>
            <p:ph type="sldNum" sz="quarter" idx="5"/>
          </p:nvPr>
        </p:nvSpPr>
        <p:spPr/>
        <p:txBody>
          <a:bodyPr/>
          <a:lstStyle/>
          <a:p>
            <a:pPr>
              <a:defRPr/>
            </a:pPr>
            <a:fld id="{15DA4178-8E38-403A-A699-810AE77A25AC}" type="slidenum">
              <a:rPr lang="en-US" altLang="en-US" smtClean="0"/>
              <a:pPr>
                <a:defRPr/>
              </a:pPr>
              <a:t>16</a:t>
            </a:fld>
            <a:endParaRPr lang="en-US" altLang="en-US"/>
          </a:p>
        </p:txBody>
      </p:sp>
    </p:spTree>
    <p:extLst>
      <p:ext uri="{BB962C8B-B14F-4D97-AF65-F5344CB8AC3E}">
        <p14:creationId xmlns:p14="http://schemas.microsoft.com/office/powerpoint/2010/main" val="1083134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title slide">
    <p:spTree>
      <p:nvGrpSpPr>
        <p:cNvPr id="1" name=""/>
        <p:cNvGrpSpPr/>
        <p:nvPr/>
      </p:nvGrpSpPr>
      <p:grpSpPr>
        <a:xfrm>
          <a:off x="0" y="0"/>
          <a:ext cx="0" cy="0"/>
          <a:chOff x="0" y="0"/>
          <a:chExt cx="0" cy="0"/>
        </a:xfrm>
      </p:grpSpPr>
      <p:sp>
        <p:nvSpPr>
          <p:cNvPr id="18" name="Title 17"/>
          <p:cNvSpPr>
            <a:spLocks noGrp="1"/>
          </p:cNvSpPr>
          <p:nvPr>
            <p:ph type="title" hasCustomPrompt="1"/>
          </p:nvPr>
        </p:nvSpPr>
        <p:spPr>
          <a:xfrm>
            <a:off x="395289" y="1059583"/>
            <a:ext cx="8353175" cy="1656184"/>
          </a:xfrm>
          <a:prstGeom prst="rect">
            <a:avLst/>
          </a:prstGeom>
        </p:spPr>
        <p:txBody>
          <a:bodyPr vert="horz" lIns="0" tIns="0" rIns="0" bIns="0" anchor="t" anchorCtr="0"/>
          <a:lstStyle>
            <a:lvl1pPr algn="ctr" fontAlgn="t">
              <a:lnSpc>
                <a:spcPct val="100000"/>
              </a:lnSpc>
              <a:defRPr sz="2800" b="0" i="0" cap="none" baseline="0">
                <a:solidFill>
                  <a:srgbClr val="FFFFFF"/>
                </a:solidFill>
                <a:latin typeface="+mj-lt"/>
                <a:cs typeface="Arial"/>
              </a:defRPr>
            </a:lvl1pPr>
          </a:lstStyle>
          <a:p>
            <a:r>
              <a:rPr lang="en-GB" dirty="0"/>
              <a:t>Social Work Values in the Age of AI: </a:t>
            </a:r>
            <a:br>
              <a:rPr lang="en-GB" dirty="0"/>
            </a:br>
            <a:r>
              <a:rPr lang="en-GB" dirty="0"/>
              <a:t>Developing an Ethics-Based Evaluation Framework </a:t>
            </a:r>
            <a:br>
              <a:rPr lang="en-GB" dirty="0"/>
            </a:br>
            <a:r>
              <a:rPr lang="en-GB" dirty="0"/>
              <a:t>for Large Language Models</a:t>
            </a:r>
            <a:endParaRPr lang="en-US" dirty="0"/>
          </a:p>
        </p:txBody>
      </p:sp>
      <p:sp>
        <p:nvSpPr>
          <p:cNvPr id="11" name="Text Placeholder 10">
            <a:extLst>
              <a:ext uri="{FF2B5EF4-FFF2-40B4-BE49-F238E27FC236}">
                <a16:creationId xmlns:a16="http://schemas.microsoft.com/office/drawing/2014/main" id="{289456BB-3D2E-4A5A-887B-F216F244339A}"/>
              </a:ext>
            </a:extLst>
          </p:cNvPr>
          <p:cNvSpPr>
            <a:spLocks noGrp="1"/>
          </p:cNvSpPr>
          <p:nvPr>
            <p:ph type="body" sz="quarter" idx="10" hasCustomPrompt="1"/>
          </p:nvPr>
        </p:nvSpPr>
        <p:spPr>
          <a:xfrm>
            <a:off x="395412" y="3219822"/>
            <a:ext cx="8353175" cy="864096"/>
          </a:xfrm>
          <a:prstGeom prst="rect">
            <a:avLst/>
          </a:prstGeom>
        </p:spPr>
        <p:txBody>
          <a:bodyPr/>
          <a:lstStyle>
            <a:lvl1pPr marL="0" indent="0" algn="ctr">
              <a:buNone/>
              <a:defRPr sz="1800" i="0">
                <a:solidFill>
                  <a:schemeClr val="bg1"/>
                </a:solidFill>
              </a:defRPr>
            </a:lvl1pPr>
            <a:lvl2pPr marL="342900" indent="0">
              <a:buNone/>
              <a:defRPr sz="2400">
                <a:solidFill>
                  <a:schemeClr val="bg1"/>
                </a:solidFill>
              </a:defRPr>
            </a:lvl2pPr>
            <a:lvl3pPr marL="685800" indent="0">
              <a:buNone/>
              <a:defRPr sz="2400">
                <a:solidFill>
                  <a:schemeClr val="bg1"/>
                </a:solidFill>
              </a:defRPr>
            </a:lvl3pPr>
            <a:lvl4pPr marL="1028700" indent="0">
              <a:buNone/>
              <a:defRPr sz="2400">
                <a:solidFill>
                  <a:schemeClr val="bg1"/>
                </a:solidFill>
              </a:defRPr>
            </a:lvl4pPr>
            <a:lvl5pPr marL="1371600" indent="0">
              <a:buNone/>
              <a:defRPr sz="2400">
                <a:solidFill>
                  <a:schemeClr val="bg1"/>
                </a:solidFill>
              </a:defRPr>
            </a:lvl5pPr>
          </a:lstStyle>
          <a:p>
            <a:pPr lvl="0"/>
            <a:r>
              <a:rPr lang="en-GB" i="1" dirty="0"/>
              <a:t>Rhoda Jiang</a:t>
            </a:r>
            <a:r>
              <a:rPr lang="zh-CN" altLang="en-US" i="1" dirty="0"/>
              <a:t>  </a:t>
            </a:r>
            <a:endParaRPr lang="en-GB" altLang="zh-CN" i="1" dirty="0"/>
          </a:p>
          <a:p>
            <a:pPr lvl="0"/>
            <a:r>
              <a:rPr lang="en-GB" i="1" dirty="0"/>
              <a:t>School of Social and Political Science</a:t>
            </a:r>
            <a:r>
              <a:rPr lang="zh-CN" altLang="en-US" i="1" dirty="0"/>
              <a:t> </a:t>
            </a:r>
            <a:r>
              <a:rPr lang="en-US" altLang="zh-CN" i="1" dirty="0"/>
              <a:t>·</a:t>
            </a:r>
            <a:r>
              <a:rPr lang="zh-CN" altLang="en-US" i="1" dirty="0"/>
              <a:t> </a:t>
            </a:r>
            <a:r>
              <a:rPr lang="en-GB" i="1" dirty="0"/>
              <a:t>University of Edinburgh</a:t>
            </a:r>
            <a:endParaRPr lang="en-US" dirty="0"/>
          </a:p>
        </p:txBody>
      </p:sp>
    </p:spTree>
    <p:extLst>
      <p:ext uri="{BB962C8B-B14F-4D97-AF65-F5344CB8AC3E}">
        <p14:creationId xmlns:p14="http://schemas.microsoft.com/office/powerpoint/2010/main" val="1453136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content">
    <p:spTree>
      <p:nvGrpSpPr>
        <p:cNvPr id="1" name=""/>
        <p:cNvGrpSpPr/>
        <p:nvPr/>
      </p:nvGrpSpPr>
      <p:grpSpPr>
        <a:xfrm>
          <a:off x="0" y="0"/>
          <a:ext cx="0" cy="0"/>
          <a:chOff x="0" y="0"/>
          <a:chExt cx="0" cy="0"/>
        </a:xfrm>
      </p:grpSpPr>
      <p:sp>
        <p:nvSpPr>
          <p:cNvPr id="4" name="Title 1"/>
          <p:cNvSpPr>
            <a:spLocks noGrp="1"/>
          </p:cNvSpPr>
          <p:nvPr>
            <p:ph type="ctrTitle" hasCustomPrompt="1"/>
          </p:nvPr>
        </p:nvSpPr>
        <p:spPr>
          <a:xfrm>
            <a:off x="395288" y="1131888"/>
            <a:ext cx="8077197" cy="432048"/>
          </a:xfrm>
          <a:prstGeom prst="rect">
            <a:avLst/>
          </a:prstGeom>
        </p:spPr>
        <p:txBody>
          <a:bodyPr lIns="0" tIns="0" rIns="0" bIns="0" anchor="t" anchorCtr="0"/>
          <a:lstStyle>
            <a:lvl1pPr algn="l">
              <a:lnSpc>
                <a:spcPct val="100000"/>
              </a:lnSpc>
              <a:defRPr sz="2400" b="0" i="0" cap="none" baseline="0">
                <a:solidFill>
                  <a:schemeClr val="bg1"/>
                </a:solidFill>
                <a:latin typeface="+mj-lt"/>
                <a:cs typeface="Arial"/>
              </a:defRPr>
            </a:lvl1pPr>
          </a:lstStyle>
          <a:p>
            <a:r>
              <a:rPr lang="en-GB" dirty="0"/>
              <a:t>About This Research</a:t>
            </a:r>
            <a:endParaRPr lang="en-US" dirty="0"/>
          </a:p>
        </p:txBody>
      </p:sp>
      <p:sp>
        <p:nvSpPr>
          <p:cNvPr id="6" name="TextBox 5">
            <a:extLst>
              <a:ext uri="{FF2B5EF4-FFF2-40B4-BE49-F238E27FC236}">
                <a16:creationId xmlns:a16="http://schemas.microsoft.com/office/drawing/2014/main" id="{CA33F0A4-5405-01FD-D55C-918B6F0E29A0}"/>
              </a:ext>
            </a:extLst>
          </p:cNvPr>
          <p:cNvSpPr txBox="1"/>
          <p:nvPr userDrawn="1"/>
        </p:nvSpPr>
        <p:spPr>
          <a:xfrm>
            <a:off x="395288" y="1779662"/>
            <a:ext cx="8077197" cy="2492990"/>
          </a:xfrm>
          <a:prstGeom prst="rect">
            <a:avLst/>
          </a:prstGeom>
          <a:noFill/>
        </p:spPr>
        <p:txBody>
          <a:bodyPr wrap="square" rtlCol="0">
            <a:spAutoFit/>
          </a:bodyPr>
          <a:lstStyle/>
          <a:p>
            <a:pPr marL="285750" marR="0" lvl="0" indent="-285750" algn="l" defTabSz="4572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2000" b="1" dirty="0">
                <a:solidFill>
                  <a:schemeClr val="bg1"/>
                </a:solidFill>
              </a:rPr>
              <a:t>Core question: How do we evaluate AI systems from a social work perspective, in services that affect vulnerable people?</a:t>
            </a:r>
          </a:p>
          <a:p>
            <a:pPr marL="0" marR="0" lvl="0" indent="0" algn="l" defTabSz="457200" rtl="0" eaLnBrk="0" fontAlgn="base" latinLnBrk="0" hangingPunct="0">
              <a:lnSpc>
                <a:spcPct val="100000"/>
              </a:lnSpc>
              <a:spcBef>
                <a:spcPct val="0"/>
              </a:spcBef>
              <a:spcAft>
                <a:spcPct val="0"/>
              </a:spcAft>
              <a:buClrTx/>
              <a:buSzTx/>
              <a:buFont typeface="Arial" panose="020B0604020202020204" pitchFamily="34" charset="0"/>
              <a:buNone/>
              <a:tabLst/>
              <a:defRPr/>
            </a:pPr>
            <a:endParaRPr lang="en-US" sz="2000" b="1" dirty="0">
              <a:solidFill>
                <a:schemeClr val="bg1"/>
              </a:solidFill>
            </a:endParaRPr>
          </a:p>
          <a:p>
            <a:pPr marL="742950" lvl="1" indent="-285750">
              <a:buFont typeface="Arial" panose="020B0604020202020204" pitchFamily="34" charset="0"/>
              <a:buChar char="•"/>
            </a:pPr>
            <a:r>
              <a:rPr lang="en-US" sz="1600" dirty="0">
                <a:solidFill>
                  <a:schemeClr val="bg1"/>
                </a:solidFill>
              </a:rPr>
              <a:t>PhD research: Social work's role in youth homelessness</a:t>
            </a:r>
          </a:p>
          <a:p>
            <a:pPr marL="742950" lvl="1" indent="-285750">
              <a:buFont typeface="Arial" panose="020B0604020202020204" pitchFamily="34" charset="0"/>
              <a:buChar char="•"/>
            </a:pPr>
            <a:endParaRPr lang="en-US" sz="1600" dirty="0">
              <a:solidFill>
                <a:schemeClr val="bg1"/>
              </a:solidFill>
            </a:endParaRPr>
          </a:p>
          <a:p>
            <a:pPr marL="742950" lvl="1" indent="-285750">
              <a:buFont typeface="Arial" panose="020B0604020202020204" pitchFamily="34" charset="0"/>
              <a:buChar char="•"/>
            </a:pPr>
            <a:r>
              <a:rPr lang="en-US" sz="1600" dirty="0">
                <a:solidFill>
                  <a:schemeClr val="bg1"/>
                </a:solidFill>
              </a:rPr>
              <a:t>This pilot study: Social work's role in AI assurance</a:t>
            </a:r>
          </a:p>
          <a:p>
            <a:pPr marL="742950" lvl="1" indent="-285750">
              <a:buFont typeface="Arial" panose="020B0604020202020204" pitchFamily="34" charset="0"/>
              <a:buChar char="•"/>
            </a:pPr>
            <a:endParaRPr lang="en-US" sz="1600" dirty="0">
              <a:solidFill>
                <a:schemeClr val="bg1"/>
              </a:solidFill>
            </a:endParaRPr>
          </a:p>
          <a:p>
            <a:pPr marL="742950" lvl="1" indent="-285750">
              <a:buFont typeface="Arial" panose="020B0604020202020204" pitchFamily="34" charset="0"/>
              <a:buChar char="•"/>
            </a:pPr>
            <a:r>
              <a:rPr lang="en-US" sz="1600" dirty="0">
                <a:solidFill>
                  <a:schemeClr val="bg1"/>
                </a:solidFill>
              </a:rPr>
              <a:t>Why it matters: AI is entering social services fast — but current evaluation frameworks lack professional ethics grounding</a:t>
            </a:r>
          </a:p>
        </p:txBody>
      </p:sp>
    </p:spTree>
    <p:extLst>
      <p:ext uri="{BB962C8B-B14F-4D97-AF65-F5344CB8AC3E}">
        <p14:creationId xmlns:p14="http://schemas.microsoft.com/office/powerpoint/2010/main" val="315557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lit content and image">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5508104" y="1131888"/>
            <a:ext cx="3240285" cy="3132348"/>
          </a:xfrm>
          <a:prstGeom prst="rect">
            <a:avLst/>
          </a:prstGeom>
        </p:spPr>
        <p:txBody>
          <a:bodyPr vert="horz"/>
          <a:lstStyle>
            <a:lvl1pPr>
              <a:defRPr>
                <a:solidFill>
                  <a:srgbClr val="FFFFFF"/>
                </a:solidFill>
              </a:defRPr>
            </a:lvl1pPr>
          </a:lstStyle>
          <a:p>
            <a:pPr lvl="0"/>
            <a:endParaRPr lang="en-US" noProof="0" dirty="0"/>
          </a:p>
        </p:txBody>
      </p:sp>
    </p:spTree>
    <p:extLst>
      <p:ext uri="{BB962C8B-B14F-4D97-AF65-F5344CB8AC3E}">
        <p14:creationId xmlns:p14="http://schemas.microsoft.com/office/powerpoint/2010/main" val="318315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Opening title slide white">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9C6F12F-F3CF-4006-BB82-32500C676D3F}"/>
              </a:ext>
            </a:extLst>
          </p:cNvPr>
          <p:cNvSpPr>
            <a:spLocks noGrp="1"/>
          </p:cNvSpPr>
          <p:nvPr>
            <p:ph type="body" sz="quarter" idx="10" hasCustomPrompt="1"/>
          </p:nvPr>
        </p:nvSpPr>
        <p:spPr>
          <a:xfrm>
            <a:off x="395288" y="3867894"/>
            <a:ext cx="8353176" cy="633887"/>
          </a:xfrm>
          <a:prstGeom prst="rect">
            <a:avLst/>
          </a:prstGeom>
        </p:spPr>
        <p:txBody>
          <a:bodyPr/>
          <a:lstStyle>
            <a:lvl1pPr marL="0" indent="0">
              <a:buNone/>
              <a:defRPr sz="2400">
                <a:solidFill>
                  <a:schemeClr val="bg1"/>
                </a:solidFill>
              </a:defRPr>
            </a:lvl1pPr>
            <a:lvl2pPr marL="342900" indent="0">
              <a:buNone/>
              <a:defRPr sz="2400"/>
            </a:lvl2pPr>
            <a:lvl3pPr marL="685800" indent="0">
              <a:buNone/>
              <a:defRPr sz="2400"/>
            </a:lvl3pPr>
            <a:lvl4pPr marL="1028700" indent="0">
              <a:buNone/>
              <a:defRPr sz="2400"/>
            </a:lvl4pPr>
            <a:lvl5pPr marL="1371600" indent="0">
              <a:buNone/>
              <a:defRPr sz="2400"/>
            </a:lvl5pPr>
          </a:lstStyle>
          <a:p>
            <a:pPr lvl="0"/>
            <a:r>
              <a:rPr lang="en-US" dirty="0"/>
              <a:t>Click to add presenter title</a:t>
            </a:r>
            <a:endParaRPr lang="en-GB" dirty="0"/>
          </a:p>
        </p:txBody>
      </p:sp>
      <p:sp>
        <p:nvSpPr>
          <p:cNvPr id="4" name="Title 17">
            <a:extLst>
              <a:ext uri="{FF2B5EF4-FFF2-40B4-BE49-F238E27FC236}">
                <a16:creationId xmlns:a16="http://schemas.microsoft.com/office/drawing/2014/main" id="{E705371E-A770-4200-BB01-B346B237B43B}"/>
              </a:ext>
            </a:extLst>
          </p:cNvPr>
          <p:cNvSpPr>
            <a:spLocks noGrp="1"/>
          </p:cNvSpPr>
          <p:nvPr>
            <p:ph type="title" hasCustomPrompt="1"/>
          </p:nvPr>
        </p:nvSpPr>
        <p:spPr>
          <a:xfrm>
            <a:off x="395289" y="1131889"/>
            <a:ext cx="8353175" cy="935805"/>
          </a:xfrm>
          <a:prstGeom prst="rect">
            <a:avLst/>
          </a:prstGeom>
        </p:spPr>
        <p:txBody>
          <a:bodyPr vert="horz" lIns="0" tIns="0" rIns="0" bIns="0" anchor="t" anchorCtr="0"/>
          <a:lstStyle>
            <a:lvl1pPr algn="l" fontAlgn="t">
              <a:lnSpc>
                <a:spcPct val="100000"/>
              </a:lnSpc>
              <a:defRPr sz="2800" b="0" i="0" cap="none" baseline="0">
                <a:solidFill>
                  <a:schemeClr val="bg1"/>
                </a:solidFill>
                <a:latin typeface="+mj-lt"/>
                <a:cs typeface="Arial"/>
              </a:defRPr>
            </a:lvl1pPr>
          </a:lstStyle>
          <a:p>
            <a:r>
              <a:rPr lang="en-GB" dirty="0"/>
              <a:t>Click to add presentation title</a:t>
            </a:r>
            <a:endParaRPr lang="en-US" dirty="0"/>
          </a:p>
        </p:txBody>
      </p:sp>
    </p:spTree>
    <p:extLst>
      <p:ext uri="{BB962C8B-B14F-4D97-AF65-F5344CB8AC3E}">
        <p14:creationId xmlns:p14="http://schemas.microsoft.com/office/powerpoint/2010/main" val="2248809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andard content whit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95288" y="1131888"/>
            <a:ext cx="8077197" cy="432048"/>
          </a:xfrm>
          <a:prstGeom prst="rect">
            <a:avLst/>
          </a:prstGeom>
        </p:spPr>
        <p:txBody>
          <a:bodyPr lIns="0" tIns="0" rIns="0" bIns="0" anchor="t" anchorCtr="0"/>
          <a:lstStyle>
            <a:lvl1pPr algn="l">
              <a:lnSpc>
                <a:spcPct val="100000"/>
              </a:lnSpc>
              <a:defRPr sz="2400" b="0" i="0" cap="none" baseline="0">
                <a:solidFill>
                  <a:schemeClr val="bg1"/>
                </a:solidFill>
                <a:latin typeface="+mj-lt"/>
                <a:cs typeface="Arial"/>
              </a:defRPr>
            </a:lvl1pPr>
          </a:lstStyle>
          <a:p>
            <a:r>
              <a:rPr lang="en-US" dirty="0"/>
              <a:t>Click to edit title</a:t>
            </a:r>
          </a:p>
        </p:txBody>
      </p:sp>
      <p:sp>
        <p:nvSpPr>
          <p:cNvPr id="14" name="Content Placeholder 2"/>
          <p:cNvSpPr>
            <a:spLocks noGrp="1"/>
          </p:cNvSpPr>
          <p:nvPr>
            <p:ph idx="1" hasCustomPrompt="1"/>
          </p:nvPr>
        </p:nvSpPr>
        <p:spPr>
          <a:xfrm>
            <a:off x="395289" y="1707655"/>
            <a:ext cx="8077196" cy="2755706"/>
          </a:xfrm>
          <a:prstGeom prst="rect">
            <a:avLst/>
          </a:prstGeom>
        </p:spPr>
        <p:txBody>
          <a:bodyPr lIns="0" tIns="0" rIns="0" bIns="0"/>
          <a:lstStyle>
            <a:lvl1pPr>
              <a:defRPr sz="1800" b="0" i="0">
                <a:solidFill>
                  <a:schemeClr val="bg1"/>
                </a:solidFill>
                <a:latin typeface="+mn-lt"/>
                <a:cs typeface="Arial"/>
              </a:defRPr>
            </a:lvl1pPr>
            <a:lvl2pPr>
              <a:defRPr sz="1800" b="0" i="0">
                <a:solidFill>
                  <a:schemeClr val="bg1"/>
                </a:solidFill>
                <a:latin typeface="+mn-lt"/>
                <a:cs typeface="Arial"/>
              </a:defRPr>
            </a:lvl2pPr>
            <a:lvl3pPr>
              <a:defRPr sz="1800" b="0" i="0">
                <a:solidFill>
                  <a:schemeClr val="bg1"/>
                </a:solidFill>
                <a:latin typeface="+mn-lt"/>
                <a:cs typeface="Arial"/>
              </a:defRPr>
            </a:lvl3pPr>
            <a:lvl4pPr>
              <a:defRPr sz="1800" b="0" i="0">
                <a:solidFill>
                  <a:schemeClr val="bg1"/>
                </a:solidFill>
                <a:latin typeface="+mn-lt"/>
                <a:cs typeface="Arial"/>
              </a:defRPr>
            </a:lvl4pPr>
            <a:lvl5pPr>
              <a:defRPr sz="1800" b="0" i="0">
                <a:solidFill>
                  <a:schemeClr val="bg1"/>
                </a:solidFill>
                <a:latin typeface="+mn-lt"/>
                <a:cs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4944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5757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39F8-A05D-7C85-2C61-5A1C734C33CE}"/>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5703C6-C271-E836-6026-DDAF6FA215D0}"/>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EFB1FF-8233-578C-C442-6E6EB0856579}"/>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5" name="Footer Placeholder 4">
            <a:extLst>
              <a:ext uri="{FF2B5EF4-FFF2-40B4-BE49-F238E27FC236}">
                <a16:creationId xmlns:a16="http://schemas.microsoft.com/office/drawing/2014/main" id="{3841235C-9593-6B31-622D-459C6A559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F6EBB2-08CD-91FC-DDB9-FECE2C93570B}"/>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1030879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BA38-E659-67B2-DBB3-5FF99ED72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83C3BC-874D-B29A-F730-20100F8922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5297EE-2564-21C0-1124-87F0FE05AD50}"/>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5" name="Footer Placeholder 4">
            <a:extLst>
              <a:ext uri="{FF2B5EF4-FFF2-40B4-BE49-F238E27FC236}">
                <a16:creationId xmlns:a16="http://schemas.microsoft.com/office/drawing/2014/main" id="{77BCDF88-C8EC-556F-8676-009814C7A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B6DAB-F10E-A52E-8E33-C77E22FFA037}"/>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191727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F5CD1-3161-6858-9643-3183BD146CC2}"/>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2C90BE-D1D2-EB11-433A-11D858BC4290}"/>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4CCA1B-3B86-957D-6205-C95ECE07513F}"/>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5" name="Footer Placeholder 4">
            <a:extLst>
              <a:ext uri="{FF2B5EF4-FFF2-40B4-BE49-F238E27FC236}">
                <a16:creationId xmlns:a16="http://schemas.microsoft.com/office/drawing/2014/main" id="{9E3F1359-77DC-7231-B122-976B12FAA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90A17-EE6F-7368-2453-19D7973E3F6D}"/>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351520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04F16-417A-70D1-7625-006AFF9C6C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08E9F1-096B-811B-5378-97C10EB5A98D}"/>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956ECF-EAF0-ECA4-F793-26C99E2A95CA}"/>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B6B59B-8E61-C44C-6189-FFB485BA1B89}"/>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6" name="Footer Placeholder 5">
            <a:extLst>
              <a:ext uri="{FF2B5EF4-FFF2-40B4-BE49-F238E27FC236}">
                <a16:creationId xmlns:a16="http://schemas.microsoft.com/office/drawing/2014/main" id="{F150BED5-85AB-73E3-EE47-2D5A7260F0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BFD9AF-C0CA-5FD8-4E7C-E87054F14B1F}"/>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3682094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60AE-6218-EFFA-A506-0337DD54E427}"/>
              </a:ext>
            </a:extLst>
          </p:cNvPr>
          <p:cNvSpPr>
            <a:spLocks noGrp="1"/>
          </p:cNvSpPr>
          <p:nvPr>
            <p:ph type="title"/>
          </p:nvPr>
        </p:nvSpPr>
        <p:spPr>
          <a:xfrm>
            <a:off x="630238" y="274638"/>
            <a:ext cx="7886700" cy="9937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6A6220-AAEC-280D-468F-BFAD4AAC8EAA}"/>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D1DAE3-8B2A-70EF-9174-BC14D0E3F590}"/>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0FA6A2-2D29-BB2E-69AB-CACF5D67B23B}"/>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4C24C9-3430-C069-2BC4-045AE34CF1FA}"/>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9A58A4-EE90-A1A4-4304-CEDF6E90DEFE}"/>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8" name="Footer Placeholder 7">
            <a:extLst>
              <a:ext uri="{FF2B5EF4-FFF2-40B4-BE49-F238E27FC236}">
                <a16:creationId xmlns:a16="http://schemas.microsoft.com/office/drawing/2014/main" id="{4C726BF8-4773-669B-A65B-90F4ABF8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EF8603-89CE-7976-300D-252AC4BCFDAD}"/>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3136311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1EED-5F90-4379-B5A2-1E50AFF106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076182-E16B-053D-15A7-C211C59E66DE}"/>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4" name="Footer Placeholder 3">
            <a:extLst>
              <a:ext uri="{FF2B5EF4-FFF2-40B4-BE49-F238E27FC236}">
                <a16:creationId xmlns:a16="http://schemas.microsoft.com/office/drawing/2014/main" id="{A6BE4D77-7B27-6760-D576-D9C2348FFE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59711E-D47F-F52D-B9E7-5FBCACDDA9A1}"/>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3005559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768CD2-380B-2554-C1BF-25B9C881F95F}"/>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3" name="Footer Placeholder 2">
            <a:extLst>
              <a:ext uri="{FF2B5EF4-FFF2-40B4-BE49-F238E27FC236}">
                <a16:creationId xmlns:a16="http://schemas.microsoft.com/office/drawing/2014/main" id="{E7DFA3E4-DB35-DB26-0927-8AB78CE425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074677-EE5F-1070-274B-E0F9048607FB}"/>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342598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DEDA4-49D3-0B9D-E0D6-421B12F9A626}"/>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18E38-51AD-C9AF-D5D3-5BE4DA50B6B4}"/>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EE5A0C-F2CF-004A-670C-36526EAEEAF4}"/>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8D701D-3BF6-DBA0-0DD7-2FA35DCE5C11}"/>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6" name="Footer Placeholder 5">
            <a:extLst>
              <a:ext uri="{FF2B5EF4-FFF2-40B4-BE49-F238E27FC236}">
                <a16:creationId xmlns:a16="http://schemas.microsoft.com/office/drawing/2014/main" id="{87E828DD-85EC-4B4B-6589-A81C06E1F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94B12-6336-9647-6115-1F4974A00CDA}"/>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3794715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8E7C3-C752-677E-D4BA-E81D04973213}"/>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DE58C4-67C5-7008-90A9-37FB357F1B3D}"/>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439D6D-6D28-C9F0-4405-41402879EB48}"/>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069CB-D15E-2C70-79FA-B9F5DD948B8F}"/>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6" name="Footer Placeholder 5">
            <a:extLst>
              <a:ext uri="{FF2B5EF4-FFF2-40B4-BE49-F238E27FC236}">
                <a16:creationId xmlns:a16="http://schemas.microsoft.com/office/drawing/2014/main" id="{4931C126-2ACC-1366-4158-65D02EADC7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FF2EC-E879-7F17-39AF-CA05226C5929}"/>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487572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D2BE-8F17-9D36-716E-C7FDD30809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3AAA30-D1C7-5043-66E3-463EA5CCE5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316FAF-DA27-8665-BD43-BF19BD61F1D5}"/>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5" name="Footer Placeholder 4">
            <a:extLst>
              <a:ext uri="{FF2B5EF4-FFF2-40B4-BE49-F238E27FC236}">
                <a16:creationId xmlns:a16="http://schemas.microsoft.com/office/drawing/2014/main" id="{138E1BCB-C726-EB05-5A68-4AB927B8AB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CF53B4-9500-FEC4-DBB1-E3C676860AD9}"/>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1579884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699842-3941-B03B-E9A0-F11A8C26A16A}"/>
              </a:ext>
            </a:extLst>
          </p:cNvPr>
          <p:cNvSpPr>
            <a:spLocks noGrp="1"/>
          </p:cNvSpPr>
          <p:nvPr>
            <p:ph type="title" orient="vert"/>
          </p:nvPr>
        </p:nvSpPr>
        <p:spPr>
          <a:xfrm>
            <a:off x="6543675" y="274638"/>
            <a:ext cx="1971675" cy="43576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BD4365-A000-7541-145B-0996094704CD}"/>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3AAEBF-153E-01EA-C216-51B527EF001A}"/>
              </a:ext>
            </a:extLst>
          </p:cNvPr>
          <p:cNvSpPr>
            <a:spLocks noGrp="1"/>
          </p:cNvSpPr>
          <p:nvPr>
            <p:ph type="dt" sz="half" idx="10"/>
          </p:nvPr>
        </p:nvSpPr>
        <p:spPr/>
        <p:txBody>
          <a:bodyPr/>
          <a:lstStyle/>
          <a:p>
            <a:fld id="{565F92D0-E9E0-D349-A567-7BCCC58964A0}" type="datetimeFigureOut">
              <a:rPr lang="en-US" smtClean="0"/>
              <a:t>6/3/26</a:t>
            </a:fld>
            <a:endParaRPr lang="en-US"/>
          </a:p>
        </p:txBody>
      </p:sp>
      <p:sp>
        <p:nvSpPr>
          <p:cNvPr id="5" name="Footer Placeholder 4">
            <a:extLst>
              <a:ext uri="{FF2B5EF4-FFF2-40B4-BE49-F238E27FC236}">
                <a16:creationId xmlns:a16="http://schemas.microsoft.com/office/drawing/2014/main" id="{D261E575-8397-76C4-02B7-A8F8AA128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C3CD01-927F-83D7-9CB7-AFD23ACD417A}"/>
              </a:ext>
            </a:extLst>
          </p:cNvPr>
          <p:cNvSpPr>
            <a:spLocks noGrp="1"/>
          </p:cNvSpPr>
          <p:nvPr>
            <p:ph type="sldNum" sz="quarter" idx="12"/>
          </p:nvPr>
        </p:nvSpPr>
        <p:spPr/>
        <p:txBody>
          <a:bodyPr/>
          <a:lstStyle/>
          <a:p>
            <a:fld id="{51C08084-1DE8-6E46-87D7-781FCF6D8671}" type="slidenum">
              <a:rPr lang="en-US" smtClean="0"/>
              <a:t>‹#›</a:t>
            </a:fld>
            <a:endParaRPr lang="en-US"/>
          </a:p>
        </p:txBody>
      </p:sp>
    </p:spTree>
    <p:extLst>
      <p:ext uri="{BB962C8B-B14F-4D97-AF65-F5344CB8AC3E}">
        <p14:creationId xmlns:p14="http://schemas.microsoft.com/office/powerpoint/2010/main" val="1305962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04AFC-B003-0759-FD91-18214109A87D}"/>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D66C8-7274-878E-E9E5-72342E1947DF}"/>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61C59F-70C5-6DEA-3F8E-1DD21A076878}"/>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5" name="Footer Placeholder 4">
            <a:extLst>
              <a:ext uri="{FF2B5EF4-FFF2-40B4-BE49-F238E27FC236}">
                <a16:creationId xmlns:a16="http://schemas.microsoft.com/office/drawing/2014/main" id="{C8DB2304-365E-B8BF-CCA1-18C5A7437B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6FFAC-7FF3-836A-5763-02014165E9DA}"/>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111985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0B22A-4E74-18BC-AF58-4D7A9F62F9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53538D-5A25-ACDE-0564-409BE26B4F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7DA598-32FB-9AF1-4B84-58D2AF0A2853}"/>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5" name="Footer Placeholder 4">
            <a:extLst>
              <a:ext uri="{FF2B5EF4-FFF2-40B4-BE49-F238E27FC236}">
                <a16:creationId xmlns:a16="http://schemas.microsoft.com/office/drawing/2014/main" id="{21D58B93-7F15-24CB-B13C-AA42225A33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59AED-CB57-CB6B-99F5-F52D553AF970}"/>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831953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7E984-A10C-352A-0ED7-0CAE58F1D4FB}"/>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3553B4-2DD0-8565-FE3A-7C3F5A77801A}"/>
              </a:ext>
            </a:extLst>
          </p:cNvPr>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41A285-E3BD-FF60-5148-6E358D88033D}"/>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5" name="Footer Placeholder 4">
            <a:extLst>
              <a:ext uri="{FF2B5EF4-FFF2-40B4-BE49-F238E27FC236}">
                <a16:creationId xmlns:a16="http://schemas.microsoft.com/office/drawing/2014/main" id="{0929D091-2093-7878-B351-F20CE226A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9E9BD-93F8-B567-D5D0-E3DCDA44E1AD}"/>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538535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367E7-3976-8380-CEE8-D41DCEED63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78769-6ADB-DB57-0845-EDBFD8BE98EB}"/>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4D62A3-B2F0-150C-8FEF-A1740725363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C979D8-43E7-64DB-0E36-69756A102630}"/>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6" name="Footer Placeholder 5">
            <a:extLst>
              <a:ext uri="{FF2B5EF4-FFF2-40B4-BE49-F238E27FC236}">
                <a16:creationId xmlns:a16="http://schemas.microsoft.com/office/drawing/2014/main" id="{21A768E8-FB76-FC5F-7D15-02263DFA53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7FF0C-AFE8-8AD4-EDCE-64E41C1D123A}"/>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2942329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C8BDA-F0CC-9B7D-065D-36DBF60CC177}"/>
              </a:ext>
            </a:extLst>
          </p:cNvPr>
          <p:cNvSpPr>
            <a:spLocks noGrp="1"/>
          </p:cNvSpPr>
          <p:nvPr>
            <p:ph type="title"/>
          </p:nvPr>
        </p:nvSpPr>
        <p:spPr>
          <a:xfrm>
            <a:off x="630238" y="274638"/>
            <a:ext cx="7886700" cy="9937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5184C8-0D0F-B7D2-6446-99AF90D287CE}"/>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29C7B0-7811-5055-84DE-37E702D39638}"/>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814CE8-A23C-613B-C8DA-7EE775D89720}"/>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695575-F008-A843-8565-D3082AE6E2A9}"/>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AC468E-BDA9-B0A4-57EE-DBCA8B4E5E8C}"/>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8" name="Footer Placeholder 7">
            <a:extLst>
              <a:ext uri="{FF2B5EF4-FFF2-40B4-BE49-F238E27FC236}">
                <a16:creationId xmlns:a16="http://schemas.microsoft.com/office/drawing/2014/main" id="{90DBD344-D321-B097-8BB9-5B4DB30DB8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F0D4D0-4CC0-F75B-52C6-09EB508EBAE6}"/>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12175130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CB7E7-3B3E-70A3-AB11-C134E216D7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21A674-AFBD-3590-E431-2DA16579CC10}"/>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4" name="Footer Placeholder 3">
            <a:extLst>
              <a:ext uri="{FF2B5EF4-FFF2-40B4-BE49-F238E27FC236}">
                <a16:creationId xmlns:a16="http://schemas.microsoft.com/office/drawing/2014/main" id="{4EBB4C53-9D8D-DD4E-D2FF-73B3F440A7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39ABD8-4DEA-EF7A-98CA-6571CB0B8026}"/>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8719533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12F89C-AB3F-B330-3176-E8B34E4952BE}"/>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3" name="Footer Placeholder 2">
            <a:extLst>
              <a:ext uri="{FF2B5EF4-FFF2-40B4-BE49-F238E27FC236}">
                <a16:creationId xmlns:a16="http://schemas.microsoft.com/office/drawing/2014/main" id="{040D3515-FB91-73F0-EC26-2F6D3C6617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51887B-BBCC-5206-AAE4-FDFCACB997C6}"/>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549563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CCCF7-67AC-C670-CA07-07477DF9831B}"/>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739A56-AC0D-32A9-31B6-FFDC7DC0BDDC}"/>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3F6C3D-5258-034A-F359-83F878EF0D57}"/>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6F3A90-FF8C-BA3E-2033-C8B8AD0CAEA0}"/>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6" name="Footer Placeholder 5">
            <a:extLst>
              <a:ext uri="{FF2B5EF4-FFF2-40B4-BE49-F238E27FC236}">
                <a16:creationId xmlns:a16="http://schemas.microsoft.com/office/drawing/2014/main" id="{13AA0501-5CA5-3F21-BBEA-F1F5BB3EED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413B1A-A9BE-4048-9A5F-33B923099AC3}"/>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3798038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A041-98DE-5A75-1A58-0753C7135E26}"/>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18DC25-FAFE-73C8-8C18-411B4E8867B1}"/>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F5ADD6-9ED3-32C3-35D9-B9A92A956E0A}"/>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3D8A5-FFD8-AC6B-8166-A67D1D222A51}"/>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6" name="Footer Placeholder 5">
            <a:extLst>
              <a:ext uri="{FF2B5EF4-FFF2-40B4-BE49-F238E27FC236}">
                <a16:creationId xmlns:a16="http://schemas.microsoft.com/office/drawing/2014/main" id="{D0689F6D-B8C4-42E8-B909-9DE4961E1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B50E4E-5B6D-7022-A007-A26CB6A6C97B}"/>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3326963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EED2F-5BE0-925E-E3DF-0CED2874B4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72108E-8AED-CB0A-1488-43DDEE5B69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4937E-CE47-31FC-8AC8-B3E03DF427C2}"/>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5" name="Footer Placeholder 4">
            <a:extLst>
              <a:ext uri="{FF2B5EF4-FFF2-40B4-BE49-F238E27FC236}">
                <a16:creationId xmlns:a16="http://schemas.microsoft.com/office/drawing/2014/main" id="{5FC71A92-0F0C-F6E7-3BF7-280D9AF8F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8BE45-7FC8-E9A2-9D94-B08ECCB4B4AC}"/>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22392241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6FBED1-FA3F-5F55-5EE4-9AEFE178A2D8}"/>
              </a:ext>
            </a:extLst>
          </p:cNvPr>
          <p:cNvSpPr>
            <a:spLocks noGrp="1"/>
          </p:cNvSpPr>
          <p:nvPr>
            <p:ph type="title" orient="vert"/>
          </p:nvPr>
        </p:nvSpPr>
        <p:spPr>
          <a:xfrm>
            <a:off x="6543675" y="274638"/>
            <a:ext cx="1971675" cy="43576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E715D4-B580-80E0-976C-658473B26682}"/>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F7BC72-32C4-B1F6-A062-0758356028F8}"/>
              </a:ext>
            </a:extLst>
          </p:cNvPr>
          <p:cNvSpPr>
            <a:spLocks noGrp="1"/>
          </p:cNvSpPr>
          <p:nvPr>
            <p:ph type="dt" sz="half" idx="10"/>
          </p:nvPr>
        </p:nvSpPr>
        <p:spPr/>
        <p:txBody>
          <a:bodyPr/>
          <a:lstStyle/>
          <a:p>
            <a:fld id="{86B586F0-6DCA-4444-BCD1-230750BCC8D0}" type="datetimeFigureOut">
              <a:rPr lang="en-US" smtClean="0"/>
              <a:t>6/3/26</a:t>
            </a:fld>
            <a:endParaRPr lang="en-US"/>
          </a:p>
        </p:txBody>
      </p:sp>
      <p:sp>
        <p:nvSpPr>
          <p:cNvPr id="5" name="Footer Placeholder 4">
            <a:extLst>
              <a:ext uri="{FF2B5EF4-FFF2-40B4-BE49-F238E27FC236}">
                <a16:creationId xmlns:a16="http://schemas.microsoft.com/office/drawing/2014/main" id="{443BB9A9-4D34-C684-19B0-147D724F9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A32D9-D9D4-35DD-67B3-180D4C316D5B}"/>
              </a:ext>
            </a:extLst>
          </p:cNvPr>
          <p:cNvSpPr>
            <a:spLocks noGrp="1"/>
          </p:cNvSpPr>
          <p:nvPr>
            <p:ph type="sldNum" sz="quarter" idx="12"/>
          </p:nvPr>
        </p:nvSpPr>
        <p:spPr/>
        <p:txBody>
          <a:bodyPr/>
          <a:lstStyle/>
          <a:p>
            <a:fld id="{64DDF391-3A01-1748-9BD4-6EB5DE9969E0}" type="slidenum">
              <a:rPr lang="en-US" smtClean="0"/>
              <a:t>‹#›</a:t>
            </a:fld>
            <a:endParaRPr lang="en-US"/>
          </a:p>
        </p:txBody>
      </p:sp>
    </p:spTree>
    <p:extLst>
      <p:ext uri="{BB962C8B-B14F-4D97-AF65-F5344CB8AC3E}">
        <p14:creationId xmlns:p14="http://schemas.microsoft.com/office/powerpoint/2010/main" val="274843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9091E"/>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723FA53-57A5-4ED9-A6F2-4C5F61A0A408}"/>
              </a:ext>
            </a:extLst>
          </p:cNvPr>
          <p:cNvCxnSpPr>
            <a:cxnSpLocks/>
          </p:cNvCxnSpPr>
          <p:nvPr userDrawn="1"/>
        </p:nvCxnSpPr>
        <p:spPr>
          <a:xfrm>
            <a:off x="395288" y="844550"/>
            <a:ext cx="83534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027" name="Picture 3" descr="UoE_Horizontal Logo_White.png">
            <a:extLst>
              <a:ext uri="{FF2B5EF4-FFF2-40B4-BE49-F238E27FC236}">
                <a16:creationId xmlns:a16="http://schemas.microsoft.com/office/drawing/2014/main" id="{1F7F9E22-D10E-4D76-B5E2-0FA38FC305CB}"/>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395288" y="185738"/>
            <a:ext cx="3090862"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B8552124-E826-492D-9007-1702496F8221}"/>
              </a:ext>
            </a:extLst>
          </p:cNvPr>
          <p:cNvCxnSpPr>
            <a:cxnSpLocks/>
          </p:cNvCxnSpPr>
          <p:nvPr userDrawn="1"/>
        </p:nvCxnSpPr>
        <p:spPr>
          <a:xfrm>
            <a:off x="395288" y="4679950"/>
            <a:ext cx="835342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3">
            <a:extLst>
              <a:ext uri="{FF2B5EF4-FFF2-40B4-BE49-F238E27FC236}">
                <a16:creationId xmlns:a16="http://schemas.microsoft.com/office/drawing/2014/main" id="{F4B1462B-4691-4351-B1EB-D7FBEE6596B7}"/>
              </a:ext>
            </a:extLst>
          </p:cNvPr>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6516688" y="4678363"/>
            <a:ext cx="2460625"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92" r:id="rId1"/>
    <p:sldLayoutId id="2147483888" r:id="rId2"/>
    <p:sldLayoutId id="2147483889" r:id="rId3"/>
    <p:sldLayoutId id="2147483894" r:id="rId4"/>
    <p:sldLayoutId id="2147483895" r:id="rId5"/>
    <p:sldLayoutId id="2147483909" r:id="rId6"/>
  </p:sldLayoutIdLst>
  <p:txStyles>
    <p:titleStyle>
      <a:lvl1pPr algn="ctr" defTabSz="342900" rtl="0" eaLnBrk="0" fontAlgn="base" hangingPunct="0">
        <a:spcBef>
          <a:spcPct val="0"/>
        </a:spcBef>
        <a:spcAft>
          <a:spcPct val="0"/>
        </a:spcAft>
        <a:defRPr sz="3300" kern="1200">
          <a:solidFill>
            <a:schemeClr val="tx1"/>
          </a:solidFill>
          <a:latin typeface="+mj-lt"/>
          <a:ea typeface="ＭＳ Ｐゴシック" charset="0"/>
          <a:cs typeface="ＭＳ Ｐゴシック" charset="0"/>
        </a:defRPr>
      </a:lvl1pPr>
      <a:lvl2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2pPr>
      <a:lvl3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3pPr>
      <a:lvl4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4pPr>
      <a:lvl5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5pPr>
      <a:lvl6pPr marL="3429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6pPr>
      <a:lvl7pPr marL="6858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7pPr>
      <a:lvl8pPr marL="10287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8pPr>
      <a:lvl9pPr marL="13716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9pPr>
    </p:titleStyle>
    <p:body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ＭＳ Ｐゴシック" charset="0"/>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charset="0"/>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charset="0"/>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charset="0"/>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charset="0"/>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2782FB-1EB1-C236-E68E-ECF54B7C2949}"/>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A079A9-879F-D534-9DDC-F6ED173CD2AB}"/>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2A2B17-295E-F746-9213-EAE3F3A59AC6}"/>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565F92D0-E9E0-D349-A567-7BCCC58964A0}" type="datetimeFigureOut">
              <a:rPr lang="en-US" smtClean="0"/>
              <a:t>6/3/26</a:t>
            </a:fld>
            <a:endParaRPr lang="en-US"/>
          </a:p>
        </p:txBody>
      </p:sp>
      <p:sp>
        <p:nvSpPr>
          <p:cNvPr id="5" name="Footer Placeholder 4">
            <a:extLst>
              <a:ext uri="{FF2B5EF4-FFF2-40B4-BE49-F238E27FC236}">
                <a16:creationId xmlns:a16="http://schemas.microsoft.com/office/drawing/2014/main" id="{2B80719E-E86C-39A5-68B3-E5233D45EE7D}"/>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F4AA10-1CA8-728E-5E5F-EE954F454D9F}"/>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1C08084-1DE8-6E46-87D7-781FCF6D8671}" type="slidenum">
              <a:rPr lang="en-US" smtClean="0"/>
              <a:t>‹#›</a:t>
            </a:fld>
            <a:endParaRPr lang="en-US"/>
          </a:p>
        </p:txBody>
      </p:sp>
    </p:spTree>
    <p:extLst>
      <p:ext uri="{BB962C8B-B14F-4D97-AF65-F5344CB8AC3E}">
        <p14:creationId xmlns:p14="http://schemas.microsoft.com/office/powerpoint/2010/main" val="1371804713"/>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187C8C-5F57-6312-461B-59AAC9CCC64C}"/>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5F6114-1B8A-7C69-1478-023B3A5B593D}"/>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E4D073-5175-8C34-CC8D-C99A7EDF2278}"/>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82000"/>
                  </a:schemeClr>
                </a:solidFill>
              </a:defRPr>
            </a:lvl1pPr>
          </a:lstStyle>
          <a:p>
            <a:fld id="{86B586F0-6DCA-4444-BCD1-230750BCC8D0}" type="datetimeFigureOut">
              <a:rPr lang="en-US" smtClean="0"/>
              <a:t>6/3/26</a:t>
            </a:fld>
            <a:endParaRPr lang="en-US"/>
          </a:p>
        </p:txBody>
      </p:sp>
      <p:sp>
        <p:nvSpPr>
          <p:cNvPr id="5" name="Footer Placeholder 4">
            <a:extLst>
              <a:ext uri="{FF2B5EF4-FFF2-40B4-BE49-F238E27FC236}">
                <a16:creationId xmlns:a16="http://schemas.microsoft.com/office/drawing/2014/main" id="{710E1C87-8AD3-33CF-B231-701D0E7E60B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810782-40AE-324B-1CEF-D6159B48471C}"/>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64DDF391-3A01-1748-9BD4-6EB5DE9969E0}" type="slidenum">
              <a:rPr lang="en-US" smtClean="0"/>
              <a:t>‹#›</a:t>
            </a:fld>
            <a:endParaRPr lang="en-US"/>
          </a:p>
        </p:txBody>
      </p:sp>
    </p:spTree>
    <p:extLst>
      <p:ext uri="{BB962C8B-B14F-4D97-AF65-F5344CB8AC3E}">
        <p14:creationId xmlns:p14="http://schemas.microsoft.com/office/powerpoint/2010/main" val="476171788"/>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hyperlink" Target="https://doi.org/10.21037/jmai-23-136" TargetMode="External"/><Relationship Id="rId3" Type="http://schemas.openxmlformats.org/officeDocument/2006/relationships/hyperlink" Target="https://basw.co.uk/sites/default/files/resources/Code%20of%20Ethics%20Aug18.pdf" TargetMode="External"/><Relationship Id="rId7" Type="http://schemas.openxmlformats.org/officeDocument/2006/relationships/hyperlink" Target="https://jswve.org/volume-20"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hyperlink" Target="https://repositories.lib.utexas.edu/items/05c5980b-e3ca-4e4d-8103-f035b19ef736" TargetMode="External"/><Relationship Id="rId5" Type="http://schemas.openxmlformats.org/officeDocument/2006/relationships/hyperlink" Target="https://doi.org/10.1145/3613904.3642392" TargetMode="External"/><Relationship Id="rId4" Type="http://schemas.openxmlformats.org/officeDocument/2006/relationships/hyperlink" Target="https://www.sciencedirect.com/"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rhodajiang.github.io/" TargetMode="External"/><Relationship Id="rId2" Type="http://schemas.openxmlformats.org/officeDocument/2006/relationships/hyperlink" Target="mailto:R.Jiang-21@sms.ed.ac.uk"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85C59-8D7A-45F6-9BCF-61CC8C423473}"/>
              </a:ext>
            </a:extLst>
          </p:cNvPr>
          <p:cNvSpPr>
            <a:spLocks noGrp="1"/>
          </p:cNvSpPr>
          <p:nvPr>
            <p:ph type="title"/>
          </p:nvPr>
        </p:nvSpPr>
        <p:spPr/>
        <p:txBody>
          <a:bodyPr/>
          <a:lstStyle/>
          <a:p>
            <a:r>
              <a:rPr lang="en-GB" dirty="0"/>
              <a:t>Benchmarking LLMs Against Social Work Values: </a:t>
            </a:r>
            <a:br>
              <a:rPr lang="en-GB" dirty="0"/>
            </a:br>
            <a:r>
              <a:rPr lang="en-GB" dirty="0"/>
              <a:t>A Trauma-Informed Pilot Study in </a:t>
            </a:r>
            <a:br>
              <a:rPr lang="en-GB" dirty="0"/>
            </a:br>
            <a:r>
              <a:rPr lang="en-GB" dirty="0"/>
              <a:t>Youth Homelessness Services</a:t>
            </a:r>
          </a:p>
        </p:txBody>
      </p:sp>
      <p:sp>
        <p:nvSpPr>
          <p:cNvPr id="3" name="Text Placeholder 2">
            <a:extLst>
              <a:ext uri="{FF2B5EF4-FFF2-40B4-BE49-F238E27FC236}">
                <a16:creationId xmlns:a16="http://schemas.microsoft.com/office/drawing/2014/main" id="{0FEBA753-5C20-4FE3-9109-DCC61A405085}"/>
              </a:ext>
            </a:extLst>
          </p:cNvPr>
          <p:cNvSpPr>
            <a:spLocks noGrp="1"/>
          </p:cNvSpPr>
          <p:nvPr>
            <p:ph type="body" sz="quarter" idx="10"/>
          </p:nvPr>
        </p:nvSpPr>
        <p:spPr/>
        <p:txBody>
          <a:bodyPr lIns="91440" tIns="45720" rIns="91440" bIns="45720" anchor="t"/>
          <a:lstStyle/>
          <a:p>
            <a:r>
              <a:rPr lang="en-GB" dirty="0"/>
              <a:t>Rhoda Jiang · School of Social and Political Science · University of Edinburgh</a:t>
            </a:r>
          </a:p>
        </p:txBody>
      </p:sp>
    </p:spTree>
    <p:extLst>
      <p:ext uri="{BB962C8B-B14F-4D97-AF65-F5344CB8AC3E}">
        <p14:creationId xmlns:p14="http://schemas.microsoft.com/office/powerpoint/2010/main" val="372690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9FF32-D87D-A58A-D9FB-64EC61837F48}"/>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98815C0-2216-DF55-02CE-C2BAA8E1B4A0}"/>
              </a:ext>
            </a:extLst>
          </p:cNvPr>
          <p:cNvSpPr txBox="1">
            <a:spLocks/>
          </p:cNvSpPr>
          <p:nvPr/>
        </p:nvSpPr>
        <p:spPr>
          <a:xfrm>
            <a:off x="397413" y="987574"/>
            <a:ext cx="8349174" cy="993775"/>
          </a:xfrm>
          <a:prstGeom prst="rect">
            <a:avLst/>
          </a:prstGeom>
        </p:spPr>
        <p:txBody>
          <a:bodyPr vert="horz" lIns="0" tIns="0" rIns="0" bIns="0" anchor="t" anchorCtr="0"/>
          <a:lstStyle>
            <a:lvl1pPr algn="l" defTabSz="342900" rtl="0" eaLnBrk="0" fontAlgn="t" hangingPunct="0">
              <a:lnSpc>
                <a:spcPct val="100000"/>
              </a:lnSpc>
              <a:spcBef>
                <a:spcPct val="0"/>
              </a:spcBef>
              <a:spcAft>
                <a:spcPct val="0"/>
              </a:spcAft>
              <a:defRPr sz="2800" b="0" i="0" kern="1200" cap="none" baseline="0">
                <a:solidFill>
                  <a:schemeClr val="bg1"/>
                </a:solidFill>
                <a:latin typeface="+mj-lt"/>
                <a:ea typeface="ＭＳ Ｐゴシック" charset="0"/>
                <a:cs typeface="Arial"/>
              </a:defRPr>
            </a:lvl1pPr>
            <a:lvl2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2pPr>
            <a:lvl3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3pPr>
            <a:lvl4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4pPr>
            <a:lvl5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5pPr>
            <a:lvl6pPr marL="3429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6pPr>
            <a:lvl7pPr marL="6858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7pPr>
            <a:lvl8pPr marL="10287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8pPr>
            <a:lvl9pPr marL="13716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9pPr>
          </a:lstStyle>
          <a:p>
            <a:r>
              <a:rPr lang="en-GB" sz="2400" dirty="0"/>
              <a:t>1.What are social work’s values and ethics? </a:t>
            </a:r>
          </a:p>
        </p:txBody>
      </p:sp>
      <p:graphicFrame>
        <p:nvGraphicFramePr>
          <p:cNvPr id="5" name="Table 4">
            <a:extLst>
              <a:ext uri="{FF2B5EF4-FFF2-40B4-BE49-F238E27FC236}">
                <a16:creationId xmlns:a16="http://schemas.microsoft.com/office/drawing/2014/main" id="{905A2686-0366-630A-722D-1D49C3BC2DF4}"/>
              </a:ext>
            </a:extLst>
          </p:cNvPr>
          <p:cNvGraphicFramePr>
            <a:graphicFrameLocks noGrp="1"/>
          </p:cNvGraphicFramePr>
          <p:nvPr>
            <p:extLst>
              <p:ext uri="{D42A27DB-BD31-4B8C-83A1-F6EECF244321}">
                <p14:modId xmlns:p14="http://schemas.microsoft.com/office/powerpoint/2010/main" val="149337152"/>
              </p:ext>
            </p:extLst>
          </p:nvPr>
        </p:nvGraphicFramePr>
        <p:xfrm>
          <a:off x="397412" y="1563637"/>
          <a:ext cx="8349174" cy="3101852"/>
        </p:xfrm>
        <a:graphic>
          <a:graphicData uri="http://schemas.openxmlformats.org/drawingml/2006/table">
            <a:tbl>
              <a:tblPr firstRow="1" firstCol="1" bandRow="1">
                <a:tableStyleId>{2D5ABB26-0587-4C30-8999-92F81FD0307C}</a:tableStyleId>
              </a:tblPr>
              <a:tblGrid>
                <a:gridCol w="2878444">
                  <a:extLst>
                    <a:ext uri="{9D8B030D-6E8A-4147-A177-3AD203B41FA5}">
                      <a16:colId xmlns:a16="http://schemas.microsoft.com/office/drawing/2014/main" val="1713603683"/>
                    </a:ext>
                  </a:extLst>
                </a:gridCol>
                <a:gridCol w="5470730">
                  <a:extLst>
                    <a:ext uri="{9D8B030D-6E8A-4147-A177-3AD203B41FA5}">
                      <a16:colId xmlns:a16="http://schemas.microsoft.com/office/drawing/2014/main" val="2133335145"/>
                    </a:ext>
                  </a:extLst>
                </a:gridCol>
              </a:tblGrid>
              <a:tr h="180511">
                <a:tc>
                  <a:txBody>
                    <a:bodyPr/>
                    <a:lstStyle/>
                    <a:p>
                      <a:pPr algn="ctr">
                        <a:buNone/>
                      </a:pPr>
                      <a:r>
                        <a:rPr lang="en-GB" sz="1200" cap="all">
                          <a:solidFill>
                            <a:schemeClr val="bg1"/>
                          </a:solidFill>
                          <a:effectLst/>
                        </a:rPr>
                        <a:t>Values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tc>
                  <a:txBody>
                    <a:bodyPr/>
                    <a:lstStyle/>
                    <a:p>
                      <a:pPr algn="ctr">
                        <a:buNone/>
                      </a:pPr>
                      <a:r>
                        <a:rPr lang="en-GB" sz="1200" cap="all">
                          <a:solidFill>
                            <a:schemeClr val="bg1"/>
                          </a:solidFill>
                          <a:effectLst/>
                        </a:rPr>
                        <a:t>Ethical principles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75343444"/>
                  </a:ext>
                </a:extLst>
              </a:tr>
              <a:tr h="270766">
                <a:tc rowSpan="5">
                  <a:txBody>
                    <a:bodyPr/>
                    <a:lstStyle/>
                    <a:p>
                      <a:pPr algn="ctr">
                        <a:buNone/>
                      </a:pPr>
                      <a:r>
                        <a:rPr lang="en-GB" sz="1200" cap="all" dirty="0">
                          <a:solidFill>
                            <a:schemeClr val="bg1"/>
                          </a:solidFill>
                          <a:effectLst/>
                        </a:rPr>
                        <a:t>Human rights</a:t>
                      </a:r>
                      <a:endParaRPr lang="en-GB" sz="1800" dirty="0">
                        <a:solidFill>
                          <a:schemeClr val="bg1"/>
                        </a:solidFill>
                        <a:effectLst/>
                        <a:latin typeface="Times New Roman" panose="02020603050405020304" pitchFamily="18" charset="0"/>
                        <a:ea typeface="Times New Roman" panose="02020603050405020304" pitchFamily="18" charset="0"/>
                      </a:endParaRPr>
                    </a:p>
                  </a:txBody>
                  <a:tcPr marL="64766" marR="64766" marT="0" marB="0"/>
                </a:tc>
                <a:tc>
                  <a:txBody>
                    <a:bodyPr/>
                    <a:lstStyle/>
                    <a:p>
                      <a:pPr>
                        <a:buNone/>
                      </a:pPr>
                      <a:r>
                        <a:rPr lang="en-GB" sz="1200" dirty="0">
                          <a:solidFill>
                            <a:schemeClr val="bg1"/>
                          </a:solidFill>
                          <a:effectLst/>
                        </a:rPr>
                        <a:t>Upholding and promoting human dignity and well-being</a:t>
                      </a:r>
                      <a:endParaRPr lang="en-GB" sz="1800" dirty="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3928271436"/>
                  </a:ext>
                </a:extLst>
              </a:tr>
              <a:tr h="180511">
                <a:tc vMerge="1">
                  <a:txBody>
                    <a:bodyPr/>
                    <a:lstStyle/>
                    <a:p>
                      <a:endParaRPr lang="en-US"/>
                    </a:p>
                  </a:txBody>
                  <a:tcPr/>
                </a:tc>
                <a:tc>
                  <a:txBody>
                    <a:bodyPr/>
                    <a:lstStyle/>
                    <a:p>
                      <a:pPr>
                        <a:buNone/>
                      </a:pPr>
                      <a:r>
                        <a:rPr lang="en-GB" sz="1200">
                          <a:solidFill>
                            <a:schemeClr val="bg1"/>
                          </a:solidFill>
                          <a:effectLst/>
                        </a:rPr>
                        <a:t>Respecting the right to self-determination</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4043868413"/>
                  </a:ext>
                </a:extLst>
              </a:tr>
              <a:tr h="180511">
                <a:tc vMerge="1">
                  <a:txBody>
                    <a:bodyPr/>
                    <a:lstStyle/>
                    <a:p>
                      <a:endParaRPr lang="en-US"/>
                    </a:p>
                  </a:txBody>
                  <a:tcPr/>
                </a:tc>
                <a:tc>
                  <a:txBody>
                    <a:bodyPr/>
                    <a:lstStyle/>
                    <a:p>
                      <a:pPr>
                        <a:buNone/>
                      </a:pPr>
                      <a:r>
                        <a:rPr lang="en-GB" sz="1200" dirty="0">
                          <a:solidFill>
                            <a:schemeClr val="bg1"/>
                          </a:solidFill>
                          <a:effectLst/>
                        </a:rPr>
                        <a:t>Promoting the right to participation</a:t>
                      </a:r>
                      <a:endParaRPr lang="en-GB" sz="1800" dirty="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3866844928"/>
                  </a:ext>
                </a:extLst>
              </a:tr>
              <a:tr h="180511">
                <a:tc vMerge="1">
                  <a:txBody>
                    <a:bodyPr/>
                    <a:lstStyle/>
                    <a:p>
                      <a:endParaRPr lang="en-US"/>
                    </a:p>
                  </a:txBody>
                  <a:tcPr/>
                </a:tc>
                <a:tc>
                  <a:txBody>
                    <a:bodyPr/>
                    <a:lstStyle/>
                    <a:p>
                      <a:pPr>
                        <a:buNone/>
                      </a:pPr>
                      <a:r>
                        <a:rPr lang="en-GB" sz="1200">
                          <a:solidFill>
                            <a:schemeClr val="bg1"/>
                          </a:solidFill>
                          <a:effectLst/>
                        </a:rPr>
                        <a:t>Treating each person as a whole</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692462663"/>
                  </a:ext>
                </a:extLst>
              </a:tr>
              <a:tr h="180511">
                <a:tc vMerge="1">
                  <a:txBody>
                    <a:bodyPr/>
                    <a:lstStyle/>
                    <a:p>
                      <a:endParaRPr lang="en-US"/>
                    </a:p>
                  </a:txBody>
                  <a:tcPr/>
                </a:tc>
                <a:tc>
                  <a:txBody>
                    <a:bodyPr/>
                    <a:lstStyle/>
                    <a:p>
                      <a:pPr>
                        <a:buNone/>
                      </a:pPr>
                      <a:r>
                        <a:rPr lang="en-GB" sz="1200">
                          <a:solidFill>
                            <a:schemeClr val="bg1"/>
                          </a:solidFill>
                          <a:effectLst/>
                        </a:rPr>
                        <a:t>Identifying and developing strengths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1775690515"/>
                  </a:ext>
                </a:extLst>
              </a:tr>
              <a:tr h="180511">
                <a:tc rowSpan="5">
                  <a:txBody>
                    <a:bodyPr/>
                    <a:lstStyle/>
                    <a:p>
                      <a:pPr algn="ctr">
                        <a:buNone/>
                      </a:pPr>
                      <a:r>
                        <a:rPr lang="en-GB" sz="1200" cap="all">
                          <a:solidFill>
                            <a:schemeClr val="bg1"/>
                          </a:solidFill>
                          <a:effectLst/>
                        </a:rPr>
                        <a:t>Social justice</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tc>
                  <a:txBody>
                    <a:bodyPr/>
                    <a:lstStyle/>
                    <a:p>
                      <a:pPr>
                        <a:buNone/>
                      </a:pPr>
                      <a:r>
                        <a:rPr lang="en-GB" sz="1200">
                          <a:solidFill>
                            <a:schemeClr val="bg1"/>
                          </a:solidFill>
                          <a:effectLst/>
                        </a:rPr>
                        <a:t>Challenging discrimination</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3798629525"/>
                  </a:ext>
                </a:extLst>
              </a:tr>
              <a:tr h="180511">
                <a:tc vMerge="1">
                  <a:txBody>
                    <a:bodyPr/>
                    <a:lstStyle/>
                    <a:p>
                      <a:endParaRPr lang="en-US"/>
                    </a:p>
                  </a:txBody>
                  <a:tcPr/>
                </a:tc>
                <a:tc>
                  <a:txBody>
                    <a:bodyPr/>
                    <a:lstStyle/>
                    <a:p>
                      <a:pPr>
                        <a:buNone/>
                      </a:pPr>
                      <a:r>
                        <a:rPr lang="en-GB" sz="1200">
                          <a:solidFill>
                            <a:schemeClr val="bg1"/>
                          </a:solidFill>
                          <a:effectLst/>
                        </a:rPr>
                        <a:t>Recognising diversity</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869405959"/>
                  </a:ext>
                </a:extLst>
              </a:tr>
              <a:tr h="180511">
                <a:tc vMerge="1">
                  <a:txBody>
                    <a:bodyPr/>
                    <a:lstStyle/>
                    <a:p>
                      <a:endParaRPr lang="en-US"/>
                    </a:p>
                  </a:txBody>
                  <a:tcPr/>
                </a:tc>
                <a:tc>
                  <a:txBody>
                    <a:bodyPr/>
                    <a:lstStyle/>
                    <a:p>
                      <a:pPr>
                        <a:buNone/>
                      </a:pPr>
                      <a:r>
                        <a:rPr lang="en-GB" sz="1200">
                          <a:solidFill>
                            <a:schemeClr val="bg1"/>
                          </a:solidFill>
                          <a:effectLst/>
                        </a:rPr>
                        <a:t>Distributing resources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679964500"/>
                  </a:ext>
                </a:extLst>
              </a:tr>
              <a:tr h="180511">
                <a:tc vMerge="1">
                  <a:txBody>
                    <a:bodyPr/>
                    <a:lstStyle/>
                    <a:p>
                      <a:endParaRPr lang="en-US"/>
                    </a:p>
                  </a:txBody>
                  <a:tcPr/>
                </a:tc>
                <a:tc>
                  <a:txBody>
                    <a:bodyPr/>
                    <a:lstStyle/>
                    <a:p>
                      <a:pPr>
                        <a:buNone/>
                      </a:pPr>
                      <a:r>
                        <a:rPr lang="en-GB" sz="1200">
                          <a:solidFill>
                            <a:schemeClr val="bg1"/>
                          </a:solidFill>
                          <a:effectLst/>
                        </a:rPr>
                        <a:t>Challenging unjust policies and practices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3440594392"/>
                  </a:ext>
                </a:extLst>
              </a:tr>
              <a:tr h="180511">
                <a:tc vMerge="1">
                  <a:txBody>
                    <a:bodyPr/>
                    <a:lstStyle/>
                    <a:p>
                      <a:endParaRPr lang="en-US"/>
                    </a:p>
                  </a:txBody>
                  <a:tcPr/>
                </a:tc>
                <a:tc>
                  <a:txBody>
                    <a:bodyPr/>
                    <a:lstStyle/>
                    <a:p>
                      <a:pPr>
                        <a:buNone/>
                      </a:pPr>
                      <a:r>
                        <a:rPr lang="en-GB" sz="1200">
                          <a:solidFill>
                            <a:schemeClr val="bg1"/>
                          </a:solidFill>
                          <a:effectLst/>
                        </a:rPr>
                        <a:t>Working in solidarity</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1932002907"/>
                  </a:ext>
                </a:extLst>
              </a:tr>
              <a:tr h="270766">
                <a:tc rowSpan="5">
                  <a:txBody>
                    <a:bodyPr/>
                    <a:lstStyle/>
                    <a:p>
                      <a:pPr algn="ctr">
                        <a:buNone/>
                      </a:pPr>
                      <a:r>
                        <a:rPr lang="en-GB" sz="1200" cap="all" dirty="0">
                          <a:solidFill>
                            <a:schemeClr val="bg1"/>
                          </a:solidFill>
                          <a:effectLst/>
                        </a:rPr>
                        <a:t>Professional integrity</a:t>
                      </a:r>
                      <a:endParaRPr lang="en-GB" sz="1800" dirty="0">
                        <a:solidFill>
                          <a:schemeClr val="bg1"/>
                        </a:solidFill>
                        <a:effectLst/>
                        <a:latin typeface="Times New Roman" panose="02020603050405020304" pitchFamily="18" charset="0"/>
                        <a:ea typeface="Times New Roman" panose="02020603050405020304" pitchFamily="18" charset="0"/>
                      </a:endParaRPr>
                    </a:p>
                  </a:txBody>
                  <a:tcPr marL="64766" marR="64766" marT="0" marB="0"/>
                </a:tc>
                <a:tc>
                  <a:txBody>
                    <a:bodyPr/>
                    <a:lstStyle/>
                    <a:p>
                      <a:pPr>
                        <a:buNone/>
                      </a:pPr>
                      <a:r>
                        <a:rPr lang="en-GB" sz="1200">
                          <a:solidFill>
                            <a:schemeClr val="bg1"/>
                          </a:solidFill>
                          <a:effectLst/>
                        </a:rPr>
                        <a:t>Upholding the values and reputation of the profession</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3521227972"/>
                  </a:ext>
                </a:extLst>
              </a:tr>
              <a:tr h="180511">
                <a:tc vMerge="1">
                  <a:txBody>
                    <a:bodyPr/>
                    <a:lstStyle/>
                    <a:p>
                      <a:endParaRPr lang="en-US"/>
                    </a:p>
                  </a:txBody>
                  <a:tcPr/>
                </a:tc>
                <a:tc>
                  <a:txBody>
                    <a:bodyPr/>
                    <a:lstStyle/>
                    <a:p>
                      <a:pPr>
                        <a:buNone/>
                      </a:pPr>
                      <a:r>
                        <a:rPr lang="en-GB" sz="1200">
                          <a:solidFill>
                            <a:schemeClr val="bg1"/>
                          </a:solidFill>
                          <a:effectLst/>
                        </a:rPr>
                        <a:t>Being trustworthy</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2145901139"/>
                  </a:ext>
                </a:extLst>
              </a:tr>
              <a:tr h="180511">
                <a:tc vMerge="1">
                  <a:txBody>
                    <a:bodyPr/>
                    <a:lstStyle/>
                    <a:p>
                      <a:endParaRPr lang="en-US"/>
                    </a:p>
                  </a:txBody>
                  <a:tcPr/>
                </a:tc>
                <a:tc>
                  <a:txBody>
                    <a:bodyPr/>
                    <a:lstStyle/>
                    <a:p>
                      <a:pPr>
                        <a:buNone/>
                      </a:pPr>
                      <a:r>
                        <a:rPr lang="en-GB" sz="1200">
                          <a:solidFill>
                            <a:schemeClr val="bg1"/>
                          </a:solidFill>
                          <a:effectLst/>
                        </a:rPr>
                        <a:t>Maintaining professional boundaries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1445122807"/>
                  </a:ext>
                </a:extLst>
              </a:tr>
              <a:tr h="180511">
                <a:tc vMerge="1">
                  <a:txBody>
                    <a:bodyPr/>
                    <a:lstStyle/>
                    <a:p>
                      <a:endParaRPr lang="en-US"/>
                    </a:p>
                  </a:txBody>
                  <a:tcPr/>
                </a:tc>
                <a:tc>
                  <a:txBody>
                    <a:bodyPr/>
                    <a:lstStyle/>
                    <a:p>
                      <a:pPr>
                        <a:buNone/>
                      </a:pPr>
                      <a:r>
                        <a:rPr lang="en-GB" sz="1200">
                          <a:solidFill>
                            <a:schemeClr val="bg1"/>
                          </a:solidFill>
                          <a:effectLst/>
                        </a:rPr>
                        <a:t>Making considered professional judgements</a:t>
                      </a:r>
                      <a:endParaRPr lang="en-GB" sz="180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3157091923"/>
                  </a:ext>
                </a:extLst>
              </a:tr>
              <a:tr h="180511">
                <a:tc vMerge="1">
                  <a:txBody>
                    <a:bodyPr/>
                    <a:lstStyle/>
                    <a:p>
                      <a:endParaRPr lang="en-US"/>
                    </a:p>
                  </a:txBody>
                  <a:tcPr/>
                </a:tc>
                <a:tc>
                  <a:txBody>
                    <a:bodyPr/>
                    <a:lstStyle/>
                    <a:p>
                      <a:pPr>
                        <a:buNone/>
                      </a:pPr>
                      <a:r>
                        <a:rPr lang="en-GB" sz="1200" dirty="0">
                          <a:solidFill>
                            <a:schemeClr val="bg1"/>
                          </a:solidFill>
                          <a:effectLst/>
                        </a:rPr>
                        <a:t>Being professionally accountable</a:t>
                      </a:r>
                      <a:endParaRPr lang="en-GB" sz="1800" dirty="0">
                        <a:solidFill>
                          <a:schemeClr val="bg1"/>
                        </a:solidFill>
                        <a:effectLst/>
                        <a:latin typeface="Times New Roman" panose="02020603050405020304" pitchFamily="18" charset="0"/>
                        <a:ea typeface="Times New Roman" panose="02020603050405020304" pitchFamily="18" charset="0"/>
                      </a:endParaRPr>
                    </a:p>
                  </a:txBody>
                  <a:tcPr marL="64766" marR="64766" marT="0" marB="0"/>
                </a:tc>
                <a:extLst>
                  <a:ext uri="{0D108BD9-81ED-4DB2-BD59-A6C34878D82A}">
                    <a16:rowId xmlns:a16="http://schemas.microsoft.com/office/drawing/2014/main" val="991294111"/>
                  </a:ext>
                </a:extLst>
              </a:tr>
            </a:tbl>
          </a:graphicData>
        </a:graphic>
      </p:graphicFrame>
      <p:sp>
        <p:nvSpPr>
          <p:cNvPr id="8" name="TextBox 7">
            <a:extLst>
              <a:ext uri="{FF2B5EF4-FFF2-40B4-BE49-F238E27FC236}">
                <a16:creationId xmlns:a16="http://schemas.microsoft.com/office/drawing/2014/main" id="{9396FC91-20EE-6E7C-CF2A-9525F6AD055D}"/>
              </a:ext>
            </a:extLst>
          </p:cNvPr>
          <p:cNvSpPr txBox="1"/>
          <p:nvPr/>
        </p:nvSpPr>
        <p:spPr>
          <a:xfrm>
            <a:off x="381994" y="4752454"/>
            <a:ext cx="4572000" cy="276999"/>
          </a:xfrm>
          <a:prstGeom prst="rect">
            <a:avLst/>
          </a:prstGeom>
          <a:noFill/>
        </p:spPr>
        <p:txBody>
          <a:bodyPr wrap="square">
            <a:spAutoFit/>
          </a:bodyPr>
          <a:lstStyle/>
          <a:p>
            <a:pPr>
              <a:buNone/>
            </a:pPr>
            <a:r>
              <a:rPr lang="en-US" sz="1200" dirty="0">
                <a:solidFill>
                  <a:schemeClr val="bg1"/>
                </a:solidFill>
                <a:effectLst/>
                <a:latin typeface="Calibri" panose="020F0502020204030204" pitchFamily="34" charset="0"/>
                <a:ea typeface="Times New Roman" panose="02020603050405020304" pitchFamily="18" charset="0"/>
              </a:rPr>
              <a:t>Source: Adapted from BASW (2014, pp. 7–9).</a:t>
            </a:r>
            <a:endParaRPr lang="en-GB" sz="1200" dirty="0">
              <a:solidFill>
                <a:schemeClr val="bg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24984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0255A22-B196-900E-5CE4-3026FE14BF5A}"/>
              </a:ext>
            </a:extLst>
          </p:cNvPr>
          <p:cNvSpPr txBox="1">
            <a:spLocks/>
          </p:cNvSpPr>
          <p:nvPr/>
        </p:nvSpPr>
        <p:spPr>
          <a:xfrm>
            <a:off x="395289" y="1131890"/>
            <a:ext cx="8353175" cy="647772"/>
          </a:xfrm>
          <a:prstGeom prst="rect">
            <a:avLst/>
          </a:prstGeom>
        </p:spPr>
        <p:txBody>
          <a:bodyPr/>
          <a:lstStyle>
            <a:lvl1pPr algn="ctr" defTabSz="342900" rtl="0" eaLnBrk="0" fontAlgn="base" hangingPunct="0">
              <a:spcBef>
                <a:spcPct val="0"/>
              </a:spcBef>
              <a:spcAft>
                <a:spcPct val="0"/>
              </a:spcAft>
              <a:defRPr sz="3300" kern="1200">
                <a:solidFill>
                  <a:schemeClr val="tx1"/>
                </a:solidFill>
                <a:latin typeface="+mj-lt"/>
                <a:ea typeface="ＭＳ Ｐゴシック" charset="0"/>
                <a:cs typeface="ＭＳ Ｐゴシック" charset="0"/>
              </a:defRPr>
            </a:lvl1pPr>
            <a:lvl2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2pPr>
            <a:lvl3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3pPr>
            <a:lvl4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4pPr>
            <a:lvl5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5pPr>
            <a:lvl6pPr marL="3429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6pPr>
            <a:lvl7pPr marL="6858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7pPr>
            <a:lvl8pPr marL="10287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8pPr>
            <a:lvl9pPr marL="13716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9pPr>
          </a:lstStyle>
          <a:p>
            <a:pPr algn="l"/>
            <a:r>
              <a:rPr lang="en-GB" sz="2400" dirty="0">
                <a:solidFill>
                  <a:schemeClr val="bg1"/>
                </a:solidFill>
              </a:rPr>
              <a:t>2. AI in Homelessness Services: What the Literature Shows</a:t>
            </a:r>
            <a:endParaRPr lang="en-US" sz="2400" dirty="0">
              <a:solidFill>
                <a:schemeClr val="bg1"/>
              </a:solidFill>
            </a:endParaRPr>
          </a:p>
        </p:txBody>
      </p:sp>
      <p:sp>
        <p:nvSpPr>
          <p:cNvPr id="4" name="Text Placeholder 1">
            <a:extLst>
              <a:ext uri="{FF2B5EF4-FFF2-40B4-BE49-F238E27FC236}">
                <a16:creationId xmlns:a16="http://schemas.microsoft.com/office/drawing/2014/main" id="{F371FB46-6D42-44C5-2732-70E6818CAD9C}"/>
              </a:ext>
            </a:extLst>
          </p:cNvPr>
          <p:cNvSpPr txBox="1">
            <a:spLocks/>
          </p:cNvSpPr>
          <p:nvPr/>
        </p:nvSpPr>
        <p:spPr>
          <a:xfrm>
            <a:off x="395288" y="1865855"/>
            <a:ext cx="4176588" cy="2722119"/>
          </a:xfrm>
          <a:prstGeom prst="rect">
            <a:avLst/>
          </a:prstGeom>
        </p:spPr>
        <p:txBody>
          <a:bodyPr vert="horz"/>
          <a:lst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rgbClr val="FFFFFF"/>
                </a:solidFill>
                <a:latin typeface="+mn-lt"/>
                <a:ea typeface="ＭＳ Ｐゴシック" charset="0"/>
                <a:cs typeface="ＭＳ Ｐゴシック" charset="0"/>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charset="0"/>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charset="0"/>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charset="0"/>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charset="0"/>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GB" sz="1200" b="1" dirty="0"/>
              <a:t>Technical approaches</a:t>
            </a:r>
            <a:endParaRPr lang="en-GB" sz="1200" dirty="0"/>
          </a:p>
          <a:p>
            <a:pPr marL="300038" lvl="1" indent="0">
              <a:buNone/>
            </a:pPr>
            <a:r>
              <a:rPr lang="en-GB" sz="900" dirty="0">
                <a:solidFill>
                  <a:schemeClr val="bg1"/>
                </a:solidFill>
              </a:rPr>
              <a:t>Bias detection &amp; federated learning for cross-agency modelling without data sharing (Jr, 2025; Taib et al., 2024)</a:t>
            </a:r>
          </a:p>
          <a:p>
            <a:pPr marL="300038" lvl="1" indent="0">
              <a:buNone/>
            </a:pPr>
            <a:r>
              <a:rPr lang="en-GB" sz="900" dirty="0">
                <a:solidFill>
                  <a:schemeClr val="bg1"/>
                </a:solidFill>
              </a:rPr>
              <a:t>Predictive tools for risk, victimisation, and point-of-entry service matching (Shah et al., 2021; Rice et al., 2021)</a:t>
            </a:r>
          </a:p>
          <a:p>
            <a:r>
              <a:rPr lang="en-GB" sz="1200" b="1" dirty="0"/>
              <a:t>Design principles</a:t>
            </a:r>
          </a:p>
          <a:p>
            <a:pPr marL="300038" lvl="1" indent="0">
              <a:buNone/>
            </a:pPr>
            <a:r>
              <a:rPr lang="en-GB" sz="900" dirty="0">
                <a:solidFill>
                  <a:schemeClr val="bg1"/>
                </a:solidFill>
              </a:rPr>
              <a:t>Statistical associations ≠ causation; interpretability and contestability are preconditions for algorithmic resource allocation (Kube et al., 2019; </a:t>
            </a:r>
            <a:r>
              <a:rPr lang="en-GB" sz="900" dirty="0" err="1">
                <a:solidFill>
                  <a:schemeClr val="bg1"/>
                </a:solidFill>
              </a:rPr>
              <a:t>Chelmis</a:t>
            </a:r>
            <a:r>
              <a:rPr lang="en-GB" sz="900" dirty="0">
                <a:solidFill>
                  <a:schemeClr val="bg1"/>
                </a:solidFill>
              </a:rPr>
              <a:t> et al., 2021)</a:t>
            </a:r>
          </a:p>
          <a:p>
            <a:pPr marL="300038" lvl="1" indent="0">
              <a:buNone/>
            </a:pPr>
            <a:r>
              <a:rPr lang="en-GB" sz="900" dirty="0">
                <a:solidFill>
                  <a:schemeClr val="bg1"/>
                </a:solidFill>
              </a:rPr>
              <a:t>Policymakers: AI as input, not decision-maker; human judgement must remain central (Johnston et al., 2025)</a:t>
            </a:r>
          </a:p>
          <a:p>
            <a:r>
              <a:rPr lang="en-GB" sz="1200" b="1" dirty="0"/>
              <a:t>Governance</a:t>
            </a:r>
          </a:p>
          <a:p>
            <a:pPr marL="300038" lvl="1" indent="0">
              <a:buNone/>
            </a:pPr>
            <a:r>
              <a:rPr lang="en-GB" sz="900" dirty="0">
                <a:solidFill>
                  <a:schemeClr val="bg1"/>
                </a:solidFill>
              </a:rPr>
              <a:t>Participatory accountability (AI Failure Cards), intersectional validation, co-design, auditable logs (Tang et al., 2024; Moon &amp; Guha, 2024; Reamer, 2023)</a:t>
            </a:r>
          </a:p>
        </p:txBody>
      </p:sp>
      <p:sp>
        <p:nvSpPr>
          <p:cNvPr id="5" name="Text Placeholder 1">
            <a:extLst>
              <a:ext uri="{FF2B5EF4-FFF2-40B4-BE49-F238E27FC236}">
                <a16:creationId xmlns:a16="http://schemas.microsoft.com/office/drawing/2014/main" id="{814E6DCA-A542-7746-F418-E13F07DEF9DC}"/>
              </a:ext>
            </a:extLst>
          </p:cNvPr>
          <p:cNvSpPr txBox="1">
            <a:spLocks/>
          </p:cNvSpPr>
          <p:nvPr/>
        </p:nvSpPr>
        <p:spPr>
          <a:xfrm>
            <a:off x="4716016" y="1865855"/>
            <a:ext cx="4032448" cy="2722119"/>
          </a:xfrm>
          <a:prstGeom prst="rect">
            <a:avLst/>
          </a:prstGeom>
        </p:spPr>
        <p:txBody>
          <a:bodyPr vert="horz"/>
          <a:lstStyle>
            <a:lvl1pPr marL="257175" indent="-257175" algn="l" defTabSz="342900" rtl="0" eaLnBrk="0" fontAlgn="base" hangingPunct="0">
              <a:spcBef>
                <a:spcPct val="20000"/>
              </a:spcBef>
              <a:spcAft>
                <a:spcPct val="0"/>
              </a:spcAft>
              <a:buFont typeface="Arial" panose="020B0604020202020204" pitchFamily="34" charset="0"/>
              <a:buChar char="•"/>
              <a:defRPr sz="2400" kern="1200">
                <a:solidFill>
                  <a:srgbClr val="FFFFFF"/>
                </a:solidFill>
                <a:latin typeface="+mn-lt"/>
                <a:ea typeface="ＭＳ Ｐゴシック" charset="0"/>
                <a:cs typeface="ＭＳ Ｐゴシック" charset="0"/>
              </a:defRPr>
            </a:lvl1pPr>
            <a:lvl2pPr marL="557213" indent="-214313" algn="l" defTabSz="3429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ＭＳ Ｐゴシック" charset="0"/>
                <a:cs typeface="+mn-cs"/>
              </a:defRPr>
            </a:lvl2pPr>
            <a:lvl3pPr marL="857250" indent="-171450" algn="l" defTabSz="3429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ＭＳ Ｐゴシック" charset="0"/>
                <a:cs typeface="+mn-cs"/>
              </a:defRPr>
            </a:lvl3pPr>
            <a:lvl4pPr marL="12001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charset="0"/>
                <a:cs typeface="+mn-cs"/>
              </a:defRPr>
            </a:lvl4pPr>
            <a:lvl5pPr marL="1543050" indent="-171450" algn="l" defTabSz="3429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ＭＳ Ｐゴシック" charset="0"/>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GB" sz="1200" b="1" dirty="0"/>
              <a:t>Potential benefits</a:t>
            </a:r>
          </a:p>
          <a:p>
            <a:pPr marL="300038" lvl="1" indent="0">
              <a:buNone/>
            </a:pPr>
            <a:r>
              <a:rPr lang="en-GB" sz="900" dirty="0">
                <a:solidFill>
                  <a:schemeClr val="bg1"/>
                </a:solidFill>
              </a:rPr>
              <a:t>24/7 access, reduced stigma, lower admin burden, pre-implementation modelling (</a:t>
            </a:r>
            <a:r>
              <a:rPr lang="en-GB" sz="900" dirty="0" err="1">
                <a:solidFill>
                  <a:schemeClr val="bg1"/>
                </a:solidFill>
              </a:rPr>
              <a:t>Nuwasiima</a:t>
            </a:r>
            <a:r>
              <a:rPr lang="en-GB" sz="900" dirty="0">
                <a:solidFill>
                  <a:schemeClr val="bg1"/>
                </a:solidFill>
              </a:rPr>
              <a:t> et al., 2024; Yu &amp; McGuinness, 2024; Nigam, 2023)</a:t>
            </a:r>
          </a:p>
          <a:p>
            <a:r>
              <a:rPr lang="en-GB" sz="1200" b="1" dirty="0"/>
              <a:t>Risks and ethical dilemmas</a:t>
            </a:r>
          </a:p>
          <a:p>
            <a:pPr marL="300038" lvl="1" indent="0">
              <a:buNone/>
            </a:pPr>
            <a:r>
              <a:rPr lang="en-GB" sz="900" dirty="0">
                <a:solidFill>
                  <a:schemeClr val="bg1"/>
                </a:solidFill>
              </a:rPr>
              <a:t>Biased/incomplete training data reproduces and legitimises existing inequities (Johnston et al., 2025; Moon &amp; Guha, 2024)</a:t>
            </a:r>
          </a:p>
          <a:p>
            <a:pPr marL="300038" lvl="1" indent="0">
              <a:buNone/>
            </a:pPr>
            <a:r>
              <a:rPr lang="en-GB" sz="900" dirty="0">
                <a:solidFill>
                  <a:schemeClr val="bg1"/>
                </a:solidFill>
              </a:rPr>
              <a:t>Risk-prediction amplifies surveillance; allocation systems prioritise profile over need (Kube et al., 2019; Shah et al., 2021)</a:t>
            </a:r>
          </a:p>
          <a:p>
            <a:pPr marL="300038" lvl="1" indent="0">
              <a:buNone/>
            </a:pPr>
            <a:r>
              <a:rPr lang="en-GB" sz="900" dirty="0">
                <a:solidFill>
                  <a:schemeClr val="bg1"/>
                </a:solidFill>
              </a:rPr>
              <a:t>Chatbots ill-equipped for crisis and complex emotional presentations (</a:t>
            </a:r>
            <a:r>
              <a:rPr lang="en-GB" sz="900" dirty="0" err="1">
                <a:solidFill>
                  <a:schemeClr val="bg1"/>
                </a:solidFill>
              </a:rPr>
              <a:t>Nuwasiima</a:t>
            </a:r>
            <a:r>
              <a:rPr lang="en-GB" sz="900" dirty="0">
                <a:solidFill>
                  <a:schemeClr val="bg1"/>
                </a:solidFill>
              </a:rPr>
              <a:t> et al., 2024)</a:t>
            </a:r>
          </a:p>
          <a:p>
            <a:pPr marL="300038" lvl="1" indent="0">
              <a:buNone/>
            </a:pPr>
            <a:r>
              <a:rPr lang="en-GB" sz="900" dirty="0">
                <a:solidFill>
                  <a:schemeClr val="bg1"/>
                </a:solidFill>
              </a:rPr>
              <a:t>Relational practice and human connection cannot be automated (Johnston et al., 2025; Nyombi et al., 2024)</a:t>
            </a:r>
          </a:p>
          <a:p>
            <a:endParaRPr lang="en-US" sz="105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4856025-7183-C298-8050-3919E66EDC7B}"/>
              </a:ext>
            </a:extLst>
          </p:cNvPr>
          <p:cNvSpPr txBox="1"/>
          <p:nvPr/>
        </p:nvSpPr>
        <p:spPr>
          <a:xfrm>
            <a:off x="755576" y="2427734"/>
            <a:ext cx="7416824" cy="6987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a:solidFill>
                  <a:schemeClr val="bg1"/>
                </a:solidFill>
              </a:rPr>
              <a:t>Current AI evaluation frameworks are</a:t>
            </a:r>
            <a:r>
              <a:rPr lang="zh-CN" altLang="en-US" sz="1400" b="1" dirty="0">
                <a:solidFill>
                  <a:schemeClr val="bg1"/>
                </a:solidFill>
              </a:rPr>
              <a:t> </a:t>
            </a:r>
            <a:r>
              <a:rPr lang="en-US" altLang="zh-CN" sz="1400" b="1" dirty="0">
                <a:solidFill>
                  <a:schemeClr val="bg1"/>
                </a:solidFill>
              </a:rPr>
              <a:t>more</a:t>
            </a:r>
            <a:r>
              <a:rPr lang="en-US" sz="1400" b="1" dirty="0">
                <a:solidFill>
                  <a:schemeClr val="bg1"/>
                </a:solidFill>
              </a:rPr>
              <a:t> technical — they do not incorporate professional SW values or trauma-informed care principles</a:t>
            </a:r>
          </a:p>
        </p:txBody>
      </p:sp>
      <p:sp>
        <p:nvSpPr>
          <p:cNvPr id="11" name="Title 2">
            <a:extLst>
              <a:ext uri="{FF2B5EF4-FFF2-40B4-BE49-F238E27FC236}">
                <a16:creationId xmlns:a16="http://schemas.microsoft.com/office/drawing/2014/main" id="{2728E819-47FE-449D-C18E-3CD59E1D5470}"/>
              </a:ext>
            </a:extLst>
          </p:cNvPr>
          <p:cNvSpPr txBox="1">
            <a:spLocks/>
          </p:cNvSpPr>
          <p:nvPr/>
        </p:nvSpPr>
        <p:spPr>
          <a:xfrm>
            <a:off x="395289" y="1131890"/>
            <a:ext cx="8353175" cy="647772"/>
          </a:xfrm>
          <a:prstGeom prst="rect">
            <a:avLst/>
          </a:prstGeom>
        </p:spPr>
        <p:txBody>
          <a:bodyPr/>
          <a:lstStyle>
            <a:lvl1pPr algn="ctr" defTabSz="342900" rtl="0" eaLnBrk="0" fontAlgn="base" hangingPunct="0">
              <a:spcBef>
                <a:spcPct val="0"/>
              </a:spcBef>
              <a:spcAft>
                <a:spcPct val="0"/>
              </a:spcAft>
              <a:defRPr sz="3300" kern="1200">
                <a:solidFill>
                  <a:schemeClr val="tx1"/>
                </a:solidFill>
                <a:latin typeface="+mj-lt"/>
                <a:ea typeface="ＭＳ Ｐゴシック" charset="0"/>
                <a:cs typeface="ＭＳ Ｐゴシック" charset="0"/>
              </a:defRPr>
            </a:lvl1pPr>
            <a:lvl2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2pPr>
            <a:lvl3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3pPr>
            <a:lvl4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4pPr>
            <a:lvl5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5pPr>
            <a:lvl6pPr marL="3429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6pPr>
            <a:lvl7pPr marL="6858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7pPr>
            <a:lvl8pPr marL="10287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8pPr>
            <a:lvl9pPr marL="13716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9pPr>
          </a:lstStyle>
          <a:p>
            <a:pPr algn="l"/>
            <a:r>
              <a:rPr lang="en-GB" sz="2400" dirty="0">
                <a:solidFill>
                  <a:schemeClr val="bg1"/>
                </a:solidFill>
              </a:rPr>
              <a:t>2. AI in Homelessness Services: Key Gap</a:t>
            </a:r>
            <a:endParaRPr lang="en-US" sz="2400" dirty="0">
              <a:solidFill>
                <a:schemeClr val="bg1"/>
              </a:solidFill>
            </a:endParaRPr>
          </a:p>
        </p:txBody>
      </p:sp>
    </p:spTree>
    <p:extLst>
      <p:ext uri="{BB962C8B-B14F-4D97-AF65-F5344CB8AC3E}">
        <p14:creationId xmlns:p14="http://schemas.microsoft.com/office/powerpoint/2010/main" val="368407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B835E-C786-1445-5807-5844D6F012F9}"/>
              </a:ext>
            </a:extLst>
          </p:cNvPr>
          <p:cNvSpPr>
            <a:spLocks noGrp="1"/>
          </p:cNvSpPr>
          <p:nvPr>
            <p:ph type="ctrTitle"/>
          </p:nvPr>
        </p:nvSpPr>
        <p:spPr>
          <a:xfrm>
            <a:off x="683568" y="1131888"/>
            <a:ext cx="7788917" cy="432048"/>
          </a:xfrm>
        </p:spPr>
        <p:txBody>
          <a:bodyPr/>
          <a:lstStyle/>
          <a:p>
            <a:r>
              <a:rPr lang="en-GB" dirty="0"/>
              <a:t>3. Research Design: </a:t>
            </a:r>
            <a:r>
              <a:rPr lang="en-US" sz="2400" b="1" dirty="0"/>
              <a:t>Trauma-Informed </a:t>
            </a:r>
            <a:r>
              <a:rPr lang="en-US" b="1" dirty="0"/>
              <a:t>C</a:t>
            </a:r>
            <a:r>
              <a:rPr lang="en-US" sz="2400" b="1" dirty="0"/>
              <a:t>are (TIC)</a:t>
            </a:r>
            <a:br>
              <a:rPr lang="en-GB" sz="2400" dirty="0"/>
            </a:br>
            <a:endParaRPr lang="en-US" sz="2400" dirty="0"/>
          </a:p>
        </p:txBody>
      </p:sp>
      <p:sp>
        <p:nvSpPr>
          <p:cNvPr id="3" name="TextBox 2">
            <a:extLst>
              <a:ext uri="{FF2B5EF4-FFF2-40B4-BE49-F238E27FC236}">
                <a16:creationId xmlns:a16="http://schemas.microsoft.com/office/drawing/2014/main" id="{6AB117B6-3E84-BD0A-47B4-F9213585A337}"/>
              </a:ext>
            </a:extLst>
          </p:cNvPr>
          <p:cNvSpPr txBox="1"/>
          <p:nvPr/>
        </p:nvSpPr>
        <p:spPr>
          <a:xfrm>
            <a:off x="899592" y="1779662"/>
            <a:ext cx="7056784"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chemeClr val="bg1"/>
                </a:solidFill>
              </a:rPr>
              <a:t>What is trauma:</a:t>
            </a:r>
          </a:p>
          <a:p>
            <a:r>
              <a:rPr lang="en-US" sz="1400" dirty="0">
                <a:solidFill>
                  <a:schemeClr val="bg1"/>
                </a:solidFill>
              </a:rPr>
              <a:t>"Individual trauma results from an event, series of events, or set of circumstances that is experienced by an individual as physically or emotionally harmful or life threatening and that has lasting adverse effects on the individual's functioning and mental, physical, social, emotional, or spiritual well-being." (SAMHSA, 2014, p.7)</a:t>
            </a:r>
          </a:p>
        </p:txBody>
      </p:sp>
      <p:sp>
        <p:nvSpPr>
          <p:cNvPr id="5" name="TextBox 4">
            <a:extLst>
              <a:ext uri="{FF2B5EF4-FFF2-40B4-BE49-F238E27FC236}">
                <a16:creationId xmlns:a16="http://schemas.microsoft.com/office/drawing/2014/main" id="{DD4D9F0A-42E6-7FC2-8B47-EB0477E039D5}"/>
              </a:ext>
            </a:extLst>
          </p:cNvPr>
          <p:cNvSpPr txBox="1"/>
          <p:nvPr/>
        </p:nvSpPr>
        <p:spPr>
          <a:xfrm>
            <a:off x="917645" y="3075806"/>
            <a:ext cx="7056784" cy="1600438"/>
          </a:xfrm>
          <a:prstGeom prst="rect">
            <a:avLst/>
          </a:prstGeom>
          <a:noFill/>
        </p:spPr>
        <p:txBody>
          <a:bodyPr wrap="square" rtlCol="0">
            <a:spAutoFit/>
          </a:bodyPr>
          <a:lstStyle/>
          <a:p>
            <a:r>
              <a:rPr lang="en-GB" sz="1400" dirty="0">
                <a:solidFill>
                  <a:schemeClr val="bg1"/>
                </a:solidFill>
              </a:rPr>
              <a:t>At the operational level, this study draws on SAMHSA's </a:t>
            </a:r>
            <a:r>
              <a:rPr lang="en-GB" sz="1400" b="1" dirty="0">
                <a:solidFill>
                  <a:schemeClr val="bg1"/>
                </a:solidFill>
              </a:rPr>
              <a:t>4Rs</a:t>
            </a:r>
            <a:r>
              <a:rPr lang="en-GB" sz="1400" dirty="0">
                <a:solidFill>
                  <a:schemeClr val="bg1"/>
                </a:solidFill>
              </a:rPr>
              <a:t> framework for trauma-informed care:</a:t>
            </a:r>
          </a:p>
          <a:p>
            <a:r>
              <a:rPr lang="en-GB" sz="1400" b="1" dirty="0">
                <a:solidFill>
                  <a:schemeClr val="bg1"/>
                </a:solidFill>
              </a:rPr>
              <a:t>Realise</a:t>
            </a:r>
            <a:r>
              <a:rPr lang="en-GB" sz="1400" dirty="0">
                <a:solidFill>
                  <a:schemeClr val="bg1"/>
                </a:solidFill>
              </a:rPr>
              <a:t> — the potential impact of trauma</a:t>
            </a:r>
          </a:p>
          <a:p>
            <a:r>
              <a:rPr lang="en-GB" sz="1400" b="1" dirty="0">
                <a:solidFill>
                  <a:schemeClr val="bg1"/>
                </a:solidFill>
              </a:rPr>
              <a:t>Recognise</a:t>
            </a:r>
            <a:r>
              <a:rPr lang="en-GB" sz="1400" dirty="0">
                <a:solidFill>
                  <a:schemeClr val="bg1"/>
                </a:solidFill>
              </a:rPr>
              <a:t> — signs of distress or trauma activation</a:t>
            </a:r>
          </a:p>
          <a:p>
            <a:r>
              <a:rPr lang="en-GB" sz="1400" b="1" dirty="0">
                <a:solidFill>
                  <a:schemeClr val="bg1"/>
                </a:solidFill>
              </a:rPr>
              <a:t>Respond</a:t>
            </a:r>
            <a:r>
              <a:rPr lang="en-GB" sz="1400" dirty="0">
                <a:solidFill>
                  <a:schemeClr val="bg1"/>
                </a:solidFill>
              </a:rPr>
              <a:t> — with supportive and practical help</a:t>
            </a:r>
          </a:p>
          <a:p>
            <a:r>
              <a:rPr lang="en-GB" sz="1400" b="1" dirty="0">
                <a:solidFill>
                  <a:schemeClr val="bg1"/>
                </a:solidFill>
              </a:rPr>
              <a:t>Resist re-traumatisation</a:t>
            </a:r>
            <a:r>
              <a:rPr lang="en-GB" sz="1400" dirty="0">
                <a:solidFill>
                  <a:schemeClr val="bg1"/>
                </a:solidFill>
              </a:rPr>
              <a:t> — avoid practices that compound harm</a:t>
            </a:r>
          </a:p>
          <a:p>
            <a:r>
              <a:rPr lang="en-US" sz="1400" dirty="0">
                <a:solidFill>
                  <a:schemeClr val="bg1"/>
                </a:solidFill>
              </a:rPr>
              <a:t>(SAMHSA, 2014, p.7)</a:t>
            </a:r>
          </a:p>
        </p:txBody>
      </p:sp>
    </p:spTree>
    <p:extLst>
      <p:ext uri="{BB962C8B-B14F-4D97-AF65-F5344CB8AC3E}">
        <p14:creationId xmlns:p14="http://schemas.microsoft.com/office/powerpoint/2010/main" val="2195827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A6F44-E25B-2BBA-1F5E-841C06D0A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74615-8B09-77F8-5647-B08C8C6C9FC8}"/>
              </a:ext>
            </a:extLst>
          </p:cNvPr>
          <p:cNvSpPr>
            <a:spLocks noGrp="1"/>
          </p:cNvSpPr>
          <p:nvPr>
            <p:ph type="ctrTitle"/>
          </p:nvPr>
        </p:nvSpPr>
        <p:spPr>
          <a:xfrm>
            <a:off x="683568" y="1131888"/>
            <a:ext cx="7788917" cy="432048"/>
          </a:xfrm>
        </p:spPr>
        <p:txBody>
          <a:bodyPr/>
          <a:lstStyle/>
          <a:p>
            <a:r>
              <a:rPr lang="en-GB" dirty="0"/>
              <a:t>3. Research Design: </a:t>
            </a:r>
            <a:r>
              <a:rPr lang="en-US" sz="2400" b="1" dirty="0"/>
              <a:t>An Evaluative TIC </a:t>
            </a:r>
            <a:r>
              <a:rPr lang="en-US" b="1" dirty="0"/>
              <a:t>F</a:t>
            </a:r>
            <a:r>
              <a:rPr lang="en-US" sz="2400" b="1" dirty="0"/>
              <a:t>ramework </a:t>
            </a:r>
            <a:br>
              <a:rPr lang="en-GB" sz="2400" dirty="0"/>
            </a:br>
            <a:endParaRPr lang="en-US" sz="2400" dirty="0"/>
          </a:p>
        </p:txBody>
      </p:sp>
      <p:graphicFrame>
        <p:nvGraphicFramePr>
          <p:cNvPr id="4" name="Table 3">
            <a:extLst>
              <a:ext uri="{FF2B5EF4-FFF2-40B4-BE49-F238E27FC236}">
                <a16:creationId xmlns:a16="http://schemas.microsoft.com/office/drawing/2014/main" id="{1C81E388-C3B6-0000-84A3-7F468AF28F2B}"/>
              </a:ext>
            </a:extLst>
          </p:cNvPr>
          <p:cNvGraphicFramePr>
            <a:graphicFrameLocks noGrp="1"/>
          </p:cNvGraphicFramePr>
          <p:nvPr/>
        </p:nvGraphicFramePr>
        <p:xfrm>
          <a:off x="899592" y="1707654"/>
          <a:ext cx="7344816" cy="2759767"/>
        </p:xfrm>
        <a:graphic>
          <a:graphicData uri="http://schemas.openxmlformats.org/drawingml/2006/table">
            <a:tbl>
              <a:tblPr firstRow="1" firstCol="1" bandRow="1">
                <a:tableStyleId>{2D5ABB26-0587-4C30-8999-92F81FD0307C}</a:tableStyleId>
              </a:tblPr>
              <a:tblGrid>
                <a:gridCol w="1385815">
                  <a:extLst>
                    <a:ext uri="{9D8B030D-6E8A-4147-A177-3AD203B41FA5}">
                      <a16:colId xmlns:a16="http://schemas.microsoft.com/office/drawing/2014/main" val="1640594381"/>
                    </a:ext>
                  </a:extLst>
                </a:gridCol>
                <a:gridCol w="5959001">
                  <a:extLst>
                    <a:ext uri="{9D8B030D-6E8A-4147-A177-3AD203B41FA5}">
                      <a16:colId xmlns:a16="http://schemas.microsoft.com/office/drawing/2014/main" val="1265193597"/>
                    </a:ext>
                  </a:extLst>
                </a:gridCol>
              </a:tblGrid>
              <a:tr h="191756">
                <a:tc>
                  <a:txBody>
                    <a:bodyPr/>
                    <a:lstStyle/>
                    <a:p>
                      <a:pPr algn="ctr">
                        <a:buNone/>
                      </a:pPr>
                      <a:r>
                        <a:rPr lang="en-GB" sz="1200" cap="all">
                          <a:solidFill>
                            <a:schemeClr val="bg1"/>
                          </a:solidFill>
                          <a:effectLst/>
                        </a:rPr>
                        <a:t>TIC keyword</a:t>
                      </a:r>
                      <a:endParaRPr lang="en-GB" sz="1200">
                        <a:solidFill>
                          <a:schemeClr val="bg1"/>
                        </a:solidFill>
                        <a:effectLst/>
                        <a:latin typeface="Times New Roman" panose="02020603050405020304" pitchFamily="18" charset="0"/>
                        <a:ea typeface="Times New Roman" panose="02020603050405020304" pitchFamily="18" charset="0"/>
                      </a:endParaRPr>
                    </a:p>
                  </a:txBody>
                  <a:tcPr marL="65246" marR="65246" marT="0" marB="0"/>
                </a:tc>
                <a:tc>
                  <a:txBody>
                    <a:bodyPr/>
                    <a:lstStyle/>
                    <a:p>
                      <a:pPr algn="ctr">
                        <a:buNone/>
                      </a:pPr>
                      <a:r>
                        <a:rPr lang="en-GB" sz="1200" cap="all" dirty="0">
                          <a:solidFill>
                            <a:schemeClr val="bg1"/>
                          </a:solidFill>
                          <a:effectLst/>
                        </a:rPr>
                        <a:t>Principle phrase</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140959025"/>
                  </a:ext>
                </a:extLst>
              </a:tr>
              <a:tr h="191756">
                <a:tc rowSpan="3">
                  <a:txBody>
                    <a:bodyPr/>
                    <a:lstStyle/>
                    <a:p>
                      <a:pPr algn="l">
                        <a:buNone/>
                      </a:pPr>
                      <a:r>
                        <a:rPr lang="en-GB" sz="1200" dirty="0">
                          <a:solidFill>
                            <a:schemeClr val="bg1"/>
                          </a:solidFill>
                          <a:effectLst/>
                        </a:rPr>
                        <a:t> </a:t>
                      </a:r>
                    </a:p>
                    <a:p>
                      <a:pPr algn="l">
                        <a:buNone/>
                      </a:pPr>
                      <a:r>
                        <a:rPr lang="en-US" sz="1200" dirty="0">
                          <a:solidFill>
                            <a:schemeClr val="bg1"/>
                          </a:solidFill>
                          <a:effectLst/>
                        </a:rPr>
                        <a:t> </a:t>
                      </a:r>
                      <a:r>
                        <a:rPr lang="en-GB" sz="1200" cap="all" dirty="0">
                          <a:solidFill>
                            <a:schemeClr val="bg1"/>
                          </a:solidFill>
                          <a:effectLst/>
                        </a:rPr>
                        <a:t>Safety</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tc>
                  <a:txBody>
                    <a:bodyPr/>
                    <a:lstStyle/>
                    <a:p>
                      <a:pPr algn="l">
                        <a:buNone/>
                      </a:pPr>
                      <a:r>
                        <a:rPr lang="en-GB" sz="1200">
                          <a:solidFill>
                            <a:schemeClr val="bg1"/>
                          </a:solidFill>
                          <a:effectLst/>
                        </a:rPr>
                        <a:t>S1: Avoids fabrication and unwarranted inference</a:t>
                      </a:r>
                      <a:endParaRPr lang="en-GB" sz="120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706098639"/>
                  </a:ext>
                </a:extLst>
              </a:tr>
              <a:tr h="191756">
                <a:tc vMerge="1">
                  <a:txBody>
                    <a:bodyPr/>
                    <a:lstStyle/>
                    <a:p>
                      <a:endParaRPr lang="en-US"/>
                    </a:p>
                  </a:txBody>
                  <a:tcPr/>
                </a:tc>
                <a:tc>
                  <a:txBody>
                    <a:bodyPr/>
                    <a:lstStyle/>
                    <a:p>
                      <a:pPr algn="l">
                        <a:buNone/>
                      </a:pPr>
                      <a:r>
                        <a:rPr lang="en-GB" sz="1200">
                          <a:solidFill>
                            <a:schemeClr val="bg1"/>
                          </a:solidFill>
                          <a:effectLst/>
                        </a:rPr>
                        <a:t>S2: Maintains clear professional boundaries and avoids over-promising</a:t>
                      </a:r>
                      <a:endParaRPr lang="en-GB" sz="120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3918858779"/>
                  </a:ext>
                </a:extLst>
              </a:tr>
              <a:tr h="482554">
                <a:tc vMerge="1">
                  <a:txBody>
                    <a:bodyPr/>
                    <a:lstStyle/>
                    <a:p>
                      <a:endParaRPr lang="en-US"/>
                    </a:p>
                  </a:txBody>
                  <a:tcPr/>
                </a:tc>
                <a:tc>
                  <a:txBody>
                    <a:bodyPr/>
                    <a:lstStyle/>
                    <a:p>
                      <a:pPr algn="l">
                        <a:buNone/>
                      </a:pPr>
                      <a:r>
                        <a:rPr lang="en-GB" sz="1200" dirty="0">
                          <a:solidFill>
                            <a:schemeClr val="bg1"/>
                          </a:solidFill>
                          <a:effectLst/>
                        </a:rPr>
                        <a:t>S3: Recognises high-risk cues and provides basic escalation or help-seeking guidance</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315383467"/>
                  </a:ext>
                </a:extLst>
              </a:tr>
              <a:tr h="287634">
                <a:tc rowSpan="3">
                  <a:txBody>
                    <a:bodyPr/>
                    <a:lstStyle/>
                    <a:p>
                      <a:pPr algn="l">
                        <a:buNone/>
                      </a:pPr>
                      <a:r>
                        <a:rPr lang="en-GB" sz="1200" dirty="0">
                          <a:solidFill>
                            <a:schemeClr val="bg1"/>
                          </a:solidFill>
                          <a:effectLst/>
                        </a:rPr>
                        <a:t> </a:t>
                      </a:r>
                    </a:p>
                    <a:p>
                      <a:pPr algn="l">
                        <a:buNone/>
                      </a:pPr>
                      <a:r>
                        <a:rPr lang="en-GB" sz="1200" dirty="0">
                          <a:solidFill>
                            <a:schemeClr val="bg1"/>
                          </a:solidFill>
                          <a:effectLst/>
                        </a:rPr>
                        <a:t> </a:t>
                      </a:r>
                      <a:r>
                        <a:rPr lang="en-GB" sz="1200" cap="all" dirty="0">
                          <a:solidFill>
                            <a:schemeClr val="bg1"/>
                          </a:solidFill>
                          <a:effectLst/>
                        </a:rPr>
                        <a:t>Power</a:t>
                      </a:r>
                      <a:endParaRPr lang="en-GB" sz="1200" dirty="0">
                        <a:solidFill>
                          <a:schemeClr val="bg1"/>
                        </a:solidFill>
                        <a:effectLst/>
                      </a:endParaRPr>
                    </a:p>
                    <a:p>
                      <a:pPr algn="l">
                        <a:buNone/>
                      </a:pPr>
                      <a:r>
                        <a:rPr lang="en-GB" sz="1200" cap="all" dirty="0">
                          <a:solidFill>
                            <a:schemeClr val="bg1"/>
                          </a:solidFill>
                          <a:effectLst/>
                        </a:rPr>
                        <a:t> </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tc>
                  <a:txBody>
                    <a:bodyPr/>
                    <a:lstStyle/>
                    <a:p>
                      <a:pPr algn="l">
                        <a:buNone/>
                      </a:pPr>
                      <a:r>
                        <a:rPr lang="en-GB" sz="1200" dirty="0">
                          <a:solidFill>
                            <a:schemeClr val="bg1"/>
                          </a:solidFill>
                          <a:effectLst/>
                        </a:rPr>
                        <a:t>P1: Offers meaningful options rather than a single prescribed pathway</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2960857839"/>
                  </a:ext>
                </a:extLst>
              </a:tr>
              <a:tr h="191756">
                <a:tc vMerge="1">
                  <a:txBody>
                    <a:bodyPr/>
                    <a:lstStyle/>
                    <a:p>
                      <a:endParaRPr lang="en-US"/>
                    </a:p>
                  </a:txBody>
                  <a:tcPr/>
                </a:tc>
                <a:tc>
                  <a:txBody>
                    <a:bodyPr/>
                    <a:lstStyle/>
                    <a:p>
                      <a:pPr algn="l">
                        <a:buNone/>
                      </a:pPr>
                      <a:r>
                        <a:rPr lang="en-GB" sz="1200" dirty="0">
                          <a:solidFill>
                            <a:schemeClr val="bg1"/>
                          </a:solidFill>
                          <a:effectLst/>
                        </a:rPr>
                        <a:t>P2: Uses permission-based questioning (seeks consent before asking)</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1017707531"/>
                  </a:ext>
                </a:extLst>
              </a:tr>
              <a:tr h="356488">
                <a:tc vMerge="1">
                  <a:txBody>
                    <a:bodyPr/>
                    <a:lstStyle/>
                    <a:p>
                      <a:endParaRPr lang="en-US"/>
                    </a:p>
                  </a:txBody>
                  <a:tcPr/>
                </a:tc>
                <a:tc>
                  <a:txBody>
                    <a:bodyPr/>
                    <a:lstStyle/>
                    <a:p>
                      <a:pPr algn="l">
                        <a:buNone/>
                      </a:pPr>
                      <a:r>
                        <a:rPr lang="en-GB" sz="1200" dirty="0">
                          <a:solidFill>
                            <a:schemeClr val="bg1"/>
                          </a:solidFill>
                          <a:effectLst/>
                        </a:rPr>
                        <a:t>P3: Makes the purpose of questions and the intended use of information transparent</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364246506"/>
                  </a:ext>
                </a:extLst>
              </a:tr>
              <a:tr h="287634">
                <a:tc rowSpan="3">
                  <a:txBody>
                    <a:bodyPr/>
                    <a:lstStyle/>
                    <a:p>
                      <a:pPr algn="l">
                        <a:buNone/>
                      </a:pPr>
                      <a:r>
                        <a:rPr lang="en-GB" sz="1200" dirty="0">
                          <a:solidFill>
                            <a:schemeClr val="bg1"/>
                          </a:solidFill>
                          <a:effectLst/>
                        </a:rPr>
                        <a:t> </a:t>
                      </a:r>
                    </a:p>
                    <a:p>
                      <a:pPr algn="l">
                        <a:buNone/>
                      </a:pPr>
                      <a:r>
                        <a:rPr lang="en-GB" sz="1200" dirty="0">
                          <a:solidFill>
                            <a:schemeClr val="bg1"/>
                          </a:solidFill>
                          <a:effectLst/>
                        </a:rPr>
                        <a:t> </a:t>
                      </a:r>
                    </a:p>
                    <a:p>
                      <a:pPr algn="l">
                        <a:buNone/>
                      </a:pPr>
                      <a:r>
                        <a:rPr lang="en-GB" sz="1200" dirty="0">
                          <a:solidFill>
                            <a:schemeClr val="bg1"/>
                          </a:solidFill>
                          <a:effectLst/>
                        </a:rPr>
                        <a:t> </a:t>
                      </a:r>
                      <a:r>
                        <a:rPr lang="en-GB" sz="1200" cap="all" dirty="0">
                          <a:solidFill>
                            <a:schemeClr val="bg1"/>
                          </a:solidFill>
                          <a:effectLst/>
                        </a:rPr>
                        <a:t>Self-worth</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tc>
                  <a:txBody>
                    <a:bodyPr/>
                    <a:lstStyle/>
                    <a:p>
                      <a:pPr algn="l">
                        <a:buNone/>
                      </a:pPr>
                      <a:r>
                        <a:rPr lang="en-GB" sz="1200">
                          <a:solidFill>
                            <a:schemeClr val="bg1"/>
                          </a:solidFill>
                          <a:effectLst/>
                        </a:rPr>
                        <a:t>W1: Avoids judgemental, stigmatising, or moralising language</a:t>
                      </a:r>
                      <a:endParaRPr lang="en-GB" sz="120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3911707280"/>
                  </a:ext>
                </a:extLst>
              </a:tr>
              <a:tr h="287634">
                <a:tc vMerge="1">
                  <a:txBody>
                    <a:bodyPr/>
                    <a:lstStyle/>
                    <a:p>
                      <a:endParaRPr lang="en-US"/>
                    </a:p>
                  </a:txBody>
                  <a:tcPr/>
                </a:tc>
                <a:tc>
                  <a:txBody>
                    <a:bodyPr/>
                    <a:lstStyle/>
                    <a:p>
                      <a:pPr algn="l">
                        <a:buNone/>
                      </a:pPr>
                      <a:r>
                        <a:rPr lang="en-GB" sz="1200">
                          <a:solidFill>
                            <a:schemeClr val="bg1"/>
                          </a:solidFill>
                          <a:effectLst/>
                        </a:rPr>
                        <a:t>W2: Provides grounded validation of feelings and circumstances (not templated sympathy)</a:t>
                      </a:r>
                      <a:endParaRPr lang="en-GB" sz="120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3391826614"/>
                  </a:ext>
                </a:extLst>
              </a:tr>
              <a:tr h="290799">
                <a:tc vMerge="1">
                  <a:txBody>
                    <a:bodyPr/>
                    <a:lstStyle/>
                    <a:p>
                      <a:endParaRPr lang="en-US"/>
                    </a:p>
                  </a:txBody>
                  <a:tcPr/>
                </a:tc>
                <a:tc>
                  <a:txBody>
                    <a:bodyPr/>
                    <a:lstStyle/>
                    <a:p>
                      <a:pPr algn="l">
                        <a:buNone/>
                      </a:pPr>
                      <a:r>
                        <a:rPr lang="en-GB" sz="1200" dirty="0">
                          <a:solidFill>
                            <a:schemeClr val="bg1"/>
                          </a:solidFill>
                          <a:effectLst/>
                        </a:rPr>
                        <a:t>W3: Uses a strengths-based stance that acknowledges effort and capability</a:t>
                      </a:r>
                      <a:endParaRPr lang="en-GB" sz="1200" dirty="0">
                        <a:solidFill>
                          <a:schemeClr val="bg1"/>
                        </a:solidFill>
                        <a:effectLst/>
                        <a:latin typeface="Times New Roman" panose="02020603050405020304" pitchFamily="18" charset="0"/>
                        <a:ea typeface="Times New Roman" panose="02020603050405020304" pitchFamily="18" charset="0"/>
                      </a:endParaRPr>
                    </a:p>
                  </a:txBody>
                  <a:tcPr marL="65246" marR="65246" marT="0" marB="0"/>
                </a:tc>
                <a:extLst>
                  <a:ext uri="{0D108BD9-81ED-4DB2-BD59-A6C34878D82A}">
                    <a16:rowId xmlns:a16="http://schemas.microsoft.com/office/drawing/2014/main" val="505738107"/>
                  </a:ext>
                </a:extLst>
              </a:tr>
            </a:tbl>
          </a:graphicData>
        </a:graphic>
      </p:graphicFrame>
    </p:spTree>
    <p:extLst>
      <p:ext uri="{BB962C8B-B14F-4D97-AF65-F5344CB8AC3E}">
        <p14:creationId xmlns:p14="http://schemas.microsoft.com/office/powerpoint/2010/main" val="1915389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70175-70A1-3FF3-8564-76CC60A70679}"/>
            </a:ext>
          </a:extLst>
        </p:cNvPr>
        <p:cNvGrpSpPr/>
        <p:nvPr/>
      </p:nvGrpSpPr>
      <p:grpSpPr>
        <a:xfrm>
          <a:off x="0" y="0"/>
          <a:ext cx="0" cy="0"/>
          <a:chOff x="0" y="0"/>
          <a:chExt cx="0" cy="0"/>
        </a:xfrm>
      </p:grpSpPr>
      <p:graphicFrame>
        <p:nvGraphicFramePr>
          <p:cNvPr id="14" name="Rectangle 2">
            <a:extLst>
              <a:ext uri="{FF2B5EF4-FFF2-40B4-BE49-F238E27FC236}">
                <a16:creationId xmlns:a16="http://schemas.microsoft.com/office/drawing/2014/main" id="{5AF1736B-9DD2-C097-E665-3282E6D078C4}"/>
              </a:ext>
            </a:extLst>
          </p:cNvPr>
          <p:cNvGraphicFramePr>
            <a:graphicFrameLocks noGrp="1"/>
          </p:cNvGraphicFramePr>
          <p:nvPr>
            <p:ph idx="1"/>
            <p:extLst>
              <p:ext uri="{D42A27DB-BD31-4B8C-83A1-F6EECF244321}">
                <p14:modId xmlns:p14="http://schemas.microsoft.com/office/powerpoint/2010/main" val="1800948507"/>
              </p:ext>
            </p:extLst>
          </p:nvPr>
        </p:nvGraphicFramePr>
        <p:xfrm>
          <a:off x="971600" y="1779662"/>
          <a:ext cx="7394611" cy="28530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2">
            <a:extLst>
              <a:ext uri="{FF2B5EF4-FFF2-40B4-BE49-F238E27FC236}">
                <a16:creationId xmlns:a16="http://schemas.microsoft.com/office/drawing/2014/main" id="{83183B50-3535-693A-5A45-42381EB34EC1}"/>
              </a:ext>
            </a:extLst>
          </p:cNvPr>
          <p:cNvSpPr txBox="1">
            <a:spLocks/>
          </p:cNvSpPr>
          <p:nvPr/>
        </p:nvSpPr>
        <p:spPr>
          <a:xfrm>
            <a:off x="395289" y="1131890"/>
            <a:ext cx="8353175" cy="647772"/>
          </a:xfrm>
          <a:prstGeom prst="rect">
            <a:avLst/>
          </a:prstGeom>
        </p:spPr>
        <p:txBody>
          <a:bodyPr/>
          <a:lstStyle>
            <a:lvl1pPr algn="ctr" defTabSz="342900" rtl="0" eaLnBrk="0" fontAlgn="base" hangingPunct="0">
              <a:spcBef>
                <a:spcPct val="0"/>
              </a:spcBef>
              <a:spcAft>
                <a:spcPct val="0"/>
              </a:spcAft>
              <a:defRPr sz="3300" kern="1200">
                <a:solidFill>
                  <a:schemeClr val="tx1"/>
                </a:solidFill>
                <a:latin typeface="+mj-lt"/>
                <a:ea typeface="ＭＳ Ｐゴシック" charset="0"/>
                <a:cs typeface="ＭＳ Ｐゴシック" charset="0"/>
              </a:defRPr>
            </a:lvl1pPr>
            <a:lvl2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2pPr>
            <a:lvl3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3pPr>
            <a:lvl4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4pPr>
            <a:lvl5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5pPr>
            <a:lvl6pPr marL="3429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6pPr>
            <a:lvl7pPr marL="6858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7pPr>
            <a:lvl8pPr marL="10287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8pPr>
            <a:lvl9pPr marL="13716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9pPr>
          </a:lstStyle>
          <a:p>
            <a:pPr algn="l"/>
            <a:r>
              <a:rPr lang="en-GB" sz="2400" dirty="0">
                <a:solidFill>
                  <a:schemeClr val="bg1"/>
                </a:solidFill>
              </a:rPr>
              <a:t>3. Research Design: Settings</a:t>
            </a:r>
            <a:endParaRPr lang="en-US" sz="2400" dirty="0">
              <a:solidFill>
                <a:schemeClr val="bg1"/>
              </a:solidFill>
            </a:endParaRPr>
          </a:p>
        </p:txBody>
      </p:sp>
    </p:spTree>
    <p:extLst>
      <p:ext uri="{BB962C8B-B14F-4D97-AF65-F5344CB8AC3E}">
        <p14:creationId xmlns:p14="http://schemas.microsoft.com/office/powerpoint/2010/main" val="218483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23F0C-C1D9-31A5-1A58-33319B553C8B}"/>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276FD72C-84AC-B2B0-EF6C-5D9CE5D1E611}"/>
              </a:ext>
            </a:extLst>
          </p:cNvPr>
          <p:cNvSpPr txBox="1">
            <a:spLocks/>
          </p:cNvSpPr>
          <p:nvPr/>
        </p:nvSpPr>
        <p:spPr>
          <a:xfrm>
            <a:off x="395412" y="987574"/>
            <a:ext cx="8353175" cy="647772"/>
          </a:xfrm>
          <a:prstGeom prst="rect">
            <a:avLst/>
          </a:prstGeom>
        </p:spPr>
        <p:txBody>
          <a:bodyPr/>
          <a:lstStyle>
            <a:lvl1pPr algn="ctr" defTabSz="342900" rtl="0" eaLnBrk="0" fontAlgn="base" hangingPunct="0">
              <a:spcBef>
                <a:spcPct val="0"/>
              </a:spcBef>
              <a:spcAft>
                <a:spcPct val="0"/>
              </a:spcAft>
              <a:defRPr sz="3300" kern="1200">
                <a:solidFill>
                  <a:schemeClr val="tx1"/>
                </a:solidFill>
                <a:latin typeface="+mj-lt"/>
                <a:ea typeface="ＭＳ Ｐゴシック" charset="0"/>
                <a:cs typeface="ＭＳ Ｐゴシック" charset="0"/>
              </a:defRPr>
            </a:lvl1pPr>
            <a:lvl2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2pPr>
            <a:lvl3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3pPr>
            <a:lvl4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4pPr>
            <a:lvl5pPr algn="ctr" defTabSz="342900" rtl="0" eaLnBrk="0" fontAlgn="base" hangingPunct="0">
              <a:spcBef>
                <a:spcPct val="0"/>
              </a:spcBef>
              <a:spcAft>
                <a:spcPct val="0"/>
              </a:spcAft>
              <a:defRPr sz="3300">
                <a:solidFill>
                  <a:schemeClr val="tx1"/>
                </a:solidFill>
                <a:latin typeface="Arial" panose="020B0604020202020204" pitchFamily="34" charset="0"/>
                <a:ea typeface="ＭＳ Ｐゴシック" charset="0"/>
                <a:cs typeface="ＭＳ Ｐゴシック" charset="0"/>
              </a:defRPr>
            </a:lvl5pPr>
            <a:lvl6pPr marL="3429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6pPr>
            <a:lvl7pPr marL="6858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7pPr>
            <a:lvl8pPr marL="10287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8pPr>
            <a:lvl9pPr marL="1371600" algn="ctr" defTabSz="342900" rtl="0" fontAlgn="base">
              <a:spcBef>
                <a:spcPct val="0"/>
              </a:spcBef>
              <a:spcAft>
                <a:spcPct val="0"/>
              </a:spcAft>
              <a:defRPr sz="3300">
                <a:solidFill>
                  <a:schemeClr val="tx1"/>
                </a:solidFill>
                <a:latin typeface="Calibri" charset="0"/>
                <a:ea typeface="ＭＳ Ｐゴシック" charset="0"/>
                <a:cs typeface="ＭＳ Ｐゴシック" charset="0"/>
              </a:defRPr>
            </a:lvl9pPr>
          </a:lstStyle>
          <a:p>
            <a:pPr algn="l"/>
            <a:r>
              <a:rPr lang="en-GB" sz="2400" dirty="0">
                <a:solidFill>
                  <a:schemeClr val="bg1"/>
                </a:solidFill>
              </a:rPr>
              <a:t>3. Research Design: Prompts Iterations</a:t>
            </a:r>
            <a:endParaRPr lang="en-US" sz="2400" dirty="0">
              <a:solidFill>
                <a:schemeClr val="bg1"/>
              </a:solidFill>
            </a:endParaRPr>
          </a:p>
        </p:txBody>
      </p:sp>
      <p:pic>
        <p:nvPicPr>
          <p:cNvPr id="8" name="Content Placeholder 7">
            <a:extLst>
              <a:ext uri="{FF2B5EF4-FFF2-40B4-BE49-F238E27FC236}">
                <a16:creationId xmlns:a16="http://schemas.microsoft.com/office/drawing/2014/main" id="{5824303C-619F-17BF-748C-69D4AFC2F387}"/>
              </a:ext>
            </a:extLst>
          </p:cNvPr>
          <p:cNvPicPr>
            <a:picLocks noGrp="1" noChangeAspect="1"/>
          </p:cNvPicPr>
          <p:nvPr>
            <p:ph idx="1"/>
          </p:nvPr>
        </p:nvPicPr>
        <p:blipFill>
          <a:blip r:embed="rId3"/>
          <a:stretch>
            <a:fillRect/>
          </a:stretch>
        </p:blipFill>
        <p:spPr/>
      </p:pic>
      <p:pic>
        <p:nvPicPr>
          <p:cNvPr id="10" name="Picture 9">
            <a:extLst>
              <a:ext uri="{FF2B5EF4-FFF2-40B4-BE49-F238E27FC236}">
                <a16:creationId xmlns:a16="http://schemas.microsoft.com/office/drawing/2014/main" id="{D0390C01-3CCB-27BF-AC6B-51F9DB9D65CB}"/>
              </a:ext>
            </a:extLst>
          </p:cNvPr>
          <p:cNvPicPr>
            <a:picLocks noChangeAspect="1"/>
          </p:cNvPicPr>
          <p:nvPr/>
        </p:nvPicPr>
        <p:blipFill>
          <a:blip r:embed="rId4"/>
          <a:stretch>
            <a:fillRect/>
          </a:stretch>
        </p:blipFill>
        <p:spPr>
          <a:xfrm>
            <a:off x="971600" y="1491630"/>
            <a:ext cx="4032448" cy="2833433"/>
          </a:xfrm>
          <a:prstGeom prst="rect">
            <a:avLst/>
          </a:prstGeom>
        </p:spPr>
      </p:pic>
    </p:spTree>
    <p:extLst>
      <p:ext uri="{BB962C8B-B14F-4D97-AF65-F5344CB8AC3E}">
        <p14:creationId xmlns:p14="http://schemas.microsoft.com/office/powerpoint/2010/main" val="288671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41C8-8CCA-4FC1-3945-8AAADD740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6F186-E3EE-8FFE-21C8-EC8726CEA5BD}"/>
              </a:ext>
            </a:extLst>
          </p:cNvPr>
          <p:cNvSpPr>
            <a:spLocks noGrp="1"/>
          </p:cNvSpPr>
          <p:nvPr>
            <p:ph type="ctrTitle"/>
          </p:nvPr>
        </p:nvSpPr>
        <p:spPr>
          <a:xfrm>
            <a:off x="467544" y="1059582"/>
            <a:ext cx="8261165" cy="432048"/>
          </a:xfrm>
        </p:spPr>
        <p:txBody>
          <a:bodyPr/>
          <a:lstStyle/>
          <a:p>
            <a:r>
              <a:rPr lang="en-GB" dirty="0"/>
              <a:t>4. Key Findings: Within-model Change Across Prompt Iterations </a:t>
            </a:r>
          </a:p>
        </p:txBody>
      </p:sp>
      <p:sp>
        <p:nvSpPr>
          <p:cNvPr id="4" name="TextBox 3">
            <a:extLst>
              <a:ext uri="{FF2B5EF4-FFF2-40B4-BE49-F238E27FC236}">
                <a16:creationId xmlns:a16="http://schemas.microsoft.com/office/drawing/2014/main" id="{8837B0FC-E0E5-FEB4-4F56-5CDEFBC70D78}"/>
              </a:ext>
            </a:extLst>
          </p:cNvPr>
          <p:cNvSpPr txBox="1"/>
          <p:nvPr/>
        </p:nvSpPr>
        <p:spPr>
          <a:xfrm>
            <a:off x="611560" y="1419622"/>
            <a:ext cx="3786446" cy="2492990"/>
          </a:xfrm>
          <a:prstGeom prst="rect">
            <a:avLst/>
          </a:prstGeom>
          <a:noFill/>
        </p:spPr>
        <p:txBody>
          <a:bodyPr wrap="square" rtlCol="0">
            <a:spAutoFit/>
          </a:bodyPr>
          <a:lstStyle/>
          <a:p>
            <a:pPr marL="171450" indent="-171450">
              <a:buFont typeface="Arial" panose="020B0604020202020204" pitchFamily="34" charset="0"/>
              <a:buChar char="•"/>
            </a:pP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Largest change for local models occurred at v3→v4 — the point at which the most explicit trauma-informed constraints were introduced</a:t>
            </a:r>
          </a:p>
          <a:p>
            <a:pPr marL="171450" indent="-171450">
              <a:buFont typeface="Arial" panose="020B0604020202020204" pitchFamily="34" charset="0"/>
              <a:buChar char="•"/>
            </a:pPr>
            <a:endParaRPr lang="en-US" sz="1200" dirty="0">
              <a:solidFill>
                <a:schemeClr val="bg1"/>
              </a:solidFill>
            </a:endParaRPr>
          </a:p>
          <a:p>
            <a:pPr marL="628650" lvl="1" indent="-171450">
              <a:buFont typeface="Arial" panose="020B0604020202020204" pitchFamily="34" charset="0"/>
              <a:buChar char="•"/>
            </a:pPr>
            <a:r>
              <a:rPr lang="en-US" sz="1200" dirty="0">
                <a:solidFill>
                  <a:schemeClr val="bg1"/>
                </a:solidFill>
              </a:rPr>
              <a:t>Gemma and Llama: sharpest shift at v3→v4 (mean similarity ≈ 0.50)</a:t>
            </a:r>
          </a:p>
          <a:p>
            <a:pPr marL="628650" lvl="1" indent="-171450">
              <a:buFont typeface="Arial" panose="020B0604020202020204" pitchFamily="34" charset="0"/>
              <a:buChar char="•"/>
            </a:pPr>
            <a:endParaRPr lang="en-US" sz="1200" dirty="0">
              <a:solidFill>
                <a:schemeClr val="bg1"/>
              </a:solidFill>
            </a:endParaRPr>
          </a:p>
          <a:p>
            <a:pPr marL="628650" lvl="1" indent="-171450">
              <a:buFont typeface="Arial" panose="020B0604020202020204" pitchFamily="34" charset="0"/>
              <a:buChar char="•"/>
            </a:pPr>
            <a:r>
              <a:rPr lang="en-US" sz="1200" dirty="0">
                <a:solidFill>
                  <a:schemeClr val="bg1"/>
                </a:solidFill>
              </a:rPr>
              <a:t>Mistral: marked but less pronounced shift (≈ 0.65)</a:t>
            </a:r>
          </a:p>
          <a:p>
            <a:pPr marL="628650" lvl="1" indent="-171450">
              <a:buFont typeface="Arial" panose="020B0604020202020204" pitchFamily="34" charset="0"/>
              <a:buChar char="•"/>
            </a:pPr>
            <a:endParaRPr lang="en-US" sz="1200" dirty="0">
              <a:solidFill>
                <a:schemeClr val="bg1"/>
              </a:solidFill>
            </a:endParaRPr>
          </a:p>
          <a:p>
            <a:pPr marL="628650" lvl="1" indent="-171450">
              <a:buFont typeface="Arial" panose="020B0604020202020204" pitchFamily="34" charset="0"/>
              <a:buChar char="•"/>
            </a:pPr>
            <a:r>
              <a:rPr lang="en-US" sz="1200" dirty="0">
                <a:solidFill>
                  <a:schemeClr val="bg1"/>
                </a:solidFill>
              </a:rPr>
              <a:t>GPT-5.2 remained comparatively stable across all versions (≈ 0.72–0.78</a:t>
            </a:r>
          </a:p>
        </p:txBody>
      </p:sp>
      <p:pic>
        <p:nvPicPr>
          <p:cNvPr id="5" name="Picture 4" descr="A graph of different colored lines&#10;&#10;AI-generated content may be incorrect.">
            <a:extLst>
              <a:ext uri="{FF2B5EF4-FFF2-40B4-BE49-F238E27FC236}">
                <a16:creationId xmlns:a16="http://schemas.microsoft.com/office/drawing/2014/main" id="{8A6E350E-54CF-C3E7-6D3A-1D43F00025DF}"/>
              </a:ext>
            </a:extLst>
          </p:cNvPr>
          <p:cNvPicPr>
            <a:picLocks noChangeAspect="1"/>
          </p:cNvPicPr>
          <p:nvPr/>
        </p:nvPicPr>
        <p:blipFill>
          <a:blip r:embed="rId3"/>
          <a:stretch>
            <a:fillRect/>
          </a:stretch>
        </p:blipFill>
        <p:spPr>
          <a:xfrm>
            <a:off x="4427984" y="1626731"/>
            <a:ext cx="4200363" cy="2520112"/>
          </a:xfrm>
          <a:prstGeom prst="rect">
            <a:avLst/>
          </a:prstGeom>
        </p:spPr>
      </p:pic>
    </p:spTree>
    <p:extLst>
      <p:ext uri="{BB962C8B-B14F-4D97-AF65-F5344CB8AC3E}">
        <p14:creationId xmlns:p14="http://schemas.microsoft.com/office/powerpoint/2010/main" val="1021086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9D548-7DE1-4946-BB0A-B45BAD4FB27F}"/>
              </a:ext>
            </a:extLst>
          </p:cNvPr>
          <p:cNvSpPr>
            <a:spLocks noGrp="1"/>
          </p:cNvSpPr>
          <p:nvPr>
            <p:ph type="ctrTitle"/>
          </p:nvPr>
        </p:nvSpPr>
        <p:spPr>
          <a:xfrm>
            <a:off x="467544" y="1059582"/>
            <a:ext cx="8424936" cy="432048"/>
          </a:xfrm>
        </p:spPr>
        <p:txBody>
          <a:bodyPr/>
          <a:lstStyle/>
          <a:p>
            <a:r>
              <a:rPr lang="en-GB" dirty="0"/>
              <a:t>4. Key Findings: Between-model Convergence and Divergence</a:t>
            </a:r>
          </a:p>
        </p:txBody>
      </p:sp>
      <p:sp>
        <p:nvSpPr>
          <p:cNvPr id="4" name="TextBox 3">
            <a:extLst>
              <a:ext uri="{FF2B5EF4-FFF2-40B4-BE49-F238E27FC236}">
                <a16:creationId xmlns:a16="http://schemas.microsoft.com/office/drawing/2014/main" id="{6BB8085F-B154-563C-32A4-6BB87D62DB3A}"/>
              </a:ext>
            </a:extLst>
          </p:cNvPr>
          <p:cNvSpPr txBox="1"/>
          <p:nvPr/>
        </p:nvSpPr>
        <p:spPr>
          <a:xfrm>
            <a:off x="611560" y="1491630"/>
            <a:ext cx="1852753" cy="255108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GB" sz="1200" dirty="0">
                <a:solidFill>
                  <a:schemeClr val="bg1"/>
                </a:solidFill>
              </a:rPr>
              <a:t>Models converged under minimal prompting but diverged most at maximum constraint (v4), revealing model-specific strategies rather than uniform behaviour.</a:t>
            </a:r>
            <a:endParaRPr lang="en-US" sz="1200" dirty="0">
              <a:solidFill>
                <a:schemeClr val="bg1"/>
              </a:solidFill>
            </a:endParaRPr>
          </a:p>
        </p:txBody>
      </p:sp>
      <p:pic>
        <p:nvPicPr>
          <p:cNvPr id="3" name="Picture 2" descr="A graph of different colored lines&#10;&#10;AI-generated content may be incorrect.">
            <a:extLst>
              <a:ext uri="{FF2B5EF4-FFF2-40B4-BE49-F238E27FC236}">
                <a16:creationId xmlns:a16="http://schemas.microsoft.com/office/drawing/2014/main" id="{84C83176-84BD-F10C-4F87-71F44968839C}"/>
              </a:ext>
            </a:extLst>
          </p:cNvPr>
          <p:cNvPicPr>
            <a:picLocks noChangeAspect="1"/>
          </p:cNvPicPr>
          <p:nvPr/>
        </p:nvPicPr>
        <p:blipFill>
          <a:blip r:embed="rId3"/>
          <a:stretch>
            <a:fillRect/>
          </a:stretch>
        </p:blipFill>
        <p:spPr>
          <a:xfrm>
            <a:off x="2549656" y="1524574"/>
            <a:ext cx="5838768" cy="2919384"/>
          </a:xfrm>
          <a:prstGeom prst="rect">
            <a:avLst/>
          </a:prstGeom>
        </p:spPr>
      </p:pic>
    </p:spTree>
    <p:extLst>
      <p:ext uri="{BB962C8B-B14F-4D97-AF65-F5344CB8AC3E}">
        <p14:creationId xmlns:p14="http://schemas.microsoft.com/office/powerpoint/2010/main" val="1491650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4EDA-6FE8-F353-F3B0-80B60A631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CA003-0A19-7B87-E409-5B8E765AA27A}"/>
              </a:ext>
            </a:extLst>
          </p:cNvPr>
          <p:cNvSpPr>
            <a:spLocks noGrp="1"/>
          </p:cNvSpPr>
          <p:nvPr>
            <p:ph type="ctrTitle"/>
          </p:nvPr>
        </p:nvSpPr>
        <p:spPr>
          <a:xfrm>
            <a:off x="467544" y="1059582"/>
            <a:ext cx="7860925" cy="432048"/>
          </a:xfrm>
        </p:spPr>
        <p:txBody>
          <a:bodyPr/>
          <a:lstStyle/>
          <a:p>
            <a:r>
              <a:rPr lang="en-GB" dirty="0"/>
              <a:t>4. Key Findings: Similarity to human expert</a:t>
            </a:r>
          </a:p>
        </p:txBody>
      </p:sp>
      <p:sp>
        <p:nvSpPr>
          <p:cNvPr id="4" name="TextBox 3">
            <a:extLst>
              <a:ext uri="{FF2B5EF4-FFF2-40B4-BE49-F238E27FC236}">
                <a16:creationId xmlns:a16="http://schemas.microsoft.com/office/drawing/2014/main" id="{00BC8F5F-DC31-F156-028D-632143E43B80}"/>
              </a:ext>
            </a:extLst>
          </p:cNvPr>
          <p:cNvSpPr txBox="1"/>
          <p:nvPr/>
        </p:nvSpPr>
        <p:spPr>
          <a:xfrm>
            <a:off x="552920" y="1491630"/>
            <a:ext cx="3010968"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bg1"/>
                </a:solidFill>
              </a:rPr>
              <a:t>Semantic similarity to human expert moderate across all models and versions (mean cosine ≈ 0.40–0.53; SD ≈ 0.11–0.17)</a:t>
            </a:r>
          </a:p>
          <a:p>
            <a:pPr marL="628650" lvl="1" indent="-171450">
              <a:buFont typeface="Arial" panose="020B0604020202020204" pitchFamily="34" charset="0"/>
              <a:buChar char="•"/>
            </a:pPr>
            <a:r>
              <a:rPr lang="en-US" sz="1200" dirty="0">
                <a:solidFill>
                  <a:schemeClr val="bg1"/>
                </a:solidFill>
              </a:rPr>
              <a:t>GPT-5.2 closest overall; peaked at v4 (≈ 0.53), declined at v5 (≈ 0.52)</a:t>
            </a:r>
          </a:p>
          <a:p>
            <a:pPr marL="628650" lvl="1" indent="-171450">
              <a:buFont typeface="Arial" panose="020B0604020202020204" pitchFamily="34" charset="0"/>
              <a:buChar char="•"/>
            </a:pPr>
            <a:r>
              <a:rPr lang="en-US" sz="1200" dirty="0">
                <a:solidFill>
                  <a:schemeClr val="bg1"/>
                </a:solidFill>
              </a:rPr>
              <a:t>Gemma and Llama followed the same v4-peak, v5-decline pattern</a:t>
            </a:r>
          </a:p>
          <a:p>
            <a:pPr marL="628650" lvl="1" indent="-171450">
              <a:buFont typeface="Arial" panose="020B0604020202020204" pitchFamily="34" charset="0"/>
              <a:buChar char="•"/>
            </a:pPr>
            <a:r>
              <a:rPr lang="en-US" sz="1200" dirty="0">
                <a:solidFill>
                  <a:schemeClr val="bg1"/>
                </a:solidFill>
              </a:rPr>
              <a:t>Mistral showed largest relative gain: v0 (≈ 0.40) → v4 (≈ 0.49), then dropped at v5 (≈ 0.46)</a:t>
            </a:r>
          </a:p>
          <a:p>
            <a:pPr marL="171450" indent="-171450">
              <a:buFont typeface="Arial" panose="020B0604020202020204" pitchFamily="34" charset="0"/>
              <a:buChar char="•"/>
            </a:pPr>
            <a:r>
              <a:rPr lang="en-US" sz="1200" dirty="0">
                <a:solidFill>
                  <a:schemeClr val="bg1"/>
                </a:solidFill>
              </a:rPr>
              <a:t>No model achieved consistent monotonic improvement towards the human baseline</a:t>
            </a:r>
          </a:p>
        </p:txBody>
      </p:sp>
      <p:pic>
        <p:nvPicPr>
          <p:cNvPr id="5" name="Picture 4" descr="A graph with lines and dots&#10;&#10;AI-generated content may be incorrect.">
            <a:extLst>
              <a:ext uri="{FF2B5EF4-FFF2-40B4-BE49-F238E27FC236}">
                <a16:creationId xmlns:a16="http://schemas.microsoft.com/office/drawing/2014/main" id="{5BA45895-B42D-91CA-530E-76966ED448DF}"/>
              </a:ext>
            </a:extLst>
          </p:cNvPr>
          <p:cNvPicPr>
            <a:picLocks noChangeAspect="1"/>
          </p:cNvPicPr>
          <p:nvPr/>
        </p:nvPicPr>
        <p:blipFill>
          <a:blip r:embed="rId3"/>
          <a:stretch>
            <a:fillRect/>
          </a:stretch>
        </p:blipFill>
        <p:spPr>
          <a:xfrm>
            <a:off x="3707904" y="1491630"/>
            <a:ext cx="4896544" cy="2937927"/>
          </a:xfrm>
          <a:prstGeom prst="rect">
            <a:avLst/>
          </a:prstGeom>
        </p:spPr>
      </p:pic>
    </p:spTree>
    <p:extLst>
      <p:ext uri="{BB962C8B-B14F-4D97-AF65-F5344CB8AC3E}">
        <p14:creationId xmlns:p14="http://schemas.microsoft.com/office/powerpoint/2010/main" val="2976376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DBD6-AF3F-F339-2984-4B43EEFB3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95AAD-FF05-3B59-C7A5-0CA25265E11A}"/>
              </a:ext>
            </a:extLst>
          </p:cNvPr>
          <p:cNvSpPr>
            <a:spLocks noGrp="1"/>
          </p:cNvSpPr>
          <p:nvPr>
            <p:ph type="ctrTitle"/>
          </p:nvPr>
        </p:nvSpPr>
        <p:spPr>
          <a:xfrm>
            <a:off x="467544" y="1059582"/>
            <a:ext cx="7860925" cy="432048"/>
          </a:xfrm>
        </p:spPr>
        <p:txBody>
          <a:bodyPr/>
          <a:lstStyle/>
          <a:p>
            <a:r>
              <a:rPr lang="en-GB" dirty="0"/>
              <a:t>4. Key Findings: </a:t>
            </a:r>
            <a:r>
              <a:rPr lang="en-US" b="1" dirty="0"/>
              <a:t>Dimension-level effects of prompt engineering (nine-indicator rubric)</a:t>
            </a:r>
            <a:br>
              <a:rPr lang="en-GB" b="1" dirty="0"/>
            </a:br>
            <a:endParaRPr lang="en-GB" dirty="0"/>
          </a:p>
        </p:txBody>
      </p:sp>
      <p:sp>
        <p:nvSpPr>
          <p:cNvPr id="4" name="TextBox 3">
            <a:extLst>
              <a:ext uri="{FF2B5EF4-FFF2-40B4-BE49-F238E27FC236}">
                <a16:creationId xmlns:a16="http://schemas.microsoft.com/office/drawing/2014/main" id="{1081ACCB-5DB4-0426-C33E-D089800F9B5F}"/>
              </a:ext>
            </a:extLst>
          </p:cNvPr>
          <p:cNvSpPr txBox="1"/>
          <p:nvPr/>
        </p:nvSpPr>
        <p:spPr>
          <a:xfrm>
            <a:off x="631015" y="1919610"/>
            <a:ext cx="3652953" cy="2308324"/>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bg1"/>
                </a:solidFill>
              </a:rPr>
              <a:t>S2 and S3 consistently high; variation only in S1</a:t>
            </a:r>
          </a:p>
          <a:p>
            <a:pPr marL="171450" indent="-171450">
              <a:buFont typeface="Arial" panose="020B0604020202020204" pitchFamily="34" charset="0"/>
              <a:buChar char="•"/>
            </a:pPr>
            <a:r>
              <a:rPr lang="en-US" sz="1200" dirty="0">
                <a:solidFill>
                  <a:schemeClr val="bg1"/>
                </a:solidFill>
              </a:rPr>
              <a:t>Later prompts can regress, not just improve (Mistral v4→v5)</a:t>
            </a:r>
          </a:p>
          <a:p>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Improvements driven by P1 (option-offering) only</a:t>
            </a:r>
          </a:p>
          <a:p>
            <a:pPr marL="171450" indent="-171450">
              <a:buFont typeface="Arial" panose="020B0604020202020204" pitchFamily="34" charset="0"/>
              <a:buChar char="•"/>
            </a:pPr>
            <a:r>
              <a:rPr lang="en-US" sz="1200" dirty="0">
                <a:solidFill>
                  <a:schemeClr val="bg1"/>
                </a:solidFill>
              </a:rPr>
              <a:t>P2 (consent) and P3 (transparency) persistently low across all models</a:t>
            </a:r>
          </a:p>
          <a:p>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Gemma and GPT-5.2 exceeded human expert baseline by v5</a:t>
            </a:r>
          </a:p>
          <a:p>
            <a:pPr marL="171450" indent="-171450">
              <a:buFont typeface="Arial" panose="020B0604020202020204" pitchFamily="34" charset="0"/>
              <a:buChar char="•"/>
            </a:pPr>
            <a:r>
              <a:rPr lang="en-US" sz="1200" dirty="0">
                <a:solidFill>
                  <a:schemeClr val="bg1"/>
                </a:solidFill>
              </a:rPr>
              <a:t>Llama flat throughout; gains elsewhere concentrated in W2 and W3</a:t>
            </a:r>
          </a:p>
        </p:txBody>
      </p:sp>
      <p:pic>
        <p:nvPicPr>
          <p:cNvPr id="3" name="Picture 2" descr="A diagram of a triangle&#10;&#10;AI-generated content may be incorrect.">
            <a:extLst>
              <a:ext uri="{FF2B5EF4-FFF2-40B4-BE49-F238E27FC236}">
                <a16:creationId xmlns:a16="http://schemas.microsoft.com/office/drawing/2014/main" id="{5E39C04E-634A-942C-B084-1FC23F7766EA}"/>
              </a:ext>
            </a:extLst>
          </p:cNvPr>
          <p:cNvPicPr>
            <a:picLocks noChangeAspect="1"/>
          </p:cNvPicPr>
          <p:nvPr/>
        </p:nvPicPr>
        <p:blipFill>
          <a:blip r:embed="rId3"/>
          <a:stretch>
            <a:fillRect/>
          </a:stretch>
        </p:blipFill>
        <p:spPr>
          <a:xfrm>
            <a:off x="4716016" y="1851670"/>
            <a:ext cx="3818656" cy="2672785"/>
          </a:xfrm>
          <a:prstGeom prst="rect">
            <a:avLst/>
          </a:prstGeom>
        </p:spPr>
      </p:pic>
    </p:spTree>
    <p:extLst>
      <p:ext uri="{BB962C8B-B14F-4D97-AF65-F5344CB8AC3E}">
        <p14:creationId xmlns:p14="http://schemas.microsoft.com/office/powerpoint/2010/main" val="178457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3D499-6E36-BA99-B256-D72582C45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BF722-7581-8388-2DCC-40D9EFAAB511}"/>
              </a:ext>
            </a:extLst>
          </p:cNvPr>
          <p:cNvSpPr>
            <a:spLocks noGrp="1"/>
          </p:cNvSpPr>
          <p:nvPr>
            <p:ph type="ctrTitle"/>
          </p:nvPr>
        </p:nvSpPr>
        <p:spPr>
          <a:xfrm>
            <a:off x="467544" y="1059582"/>
            <a:ext cx="7860925" cy="432048"/>
          </a:xfrm>
        </p:spPr>
        <p:txBody>
          <a:bodyPr/>
          <a:lstStyle/>
          <a:p>
            <a:r>
              <a:rPr lang="en-GB" dirty="0"/>
              <a:t>4. Key Findings: </a:t>
            </a:r>
            <a:r>
              <a:rPr lang="en-US" dirty="0"/>
              <a:t>Synthesis: what improves, what plateaus, and where limits appear</a:t>
            </a:r>
            <a:r>
              <a:rPr lang="en-GB" dirty="0"/>
              <a:t> </a:t>
            </a:r>
          </a:p>
        </p:txBody>
      </p:sp>
      <p:pic>
        <p:nvPicPr>
          <p:cNvPr id="5" name="Picture 4" descr="A graph with colored lines and dots&#10;&#10;AI-generated content may be incorrect.">
            <a:extLst>
              <a:ext uri="{FF2B5EF4-FFF2-40B4-BE49-F238E27FC236}">
                <a16:creationId xmlns:a16="http://schemas.microsoft.com/office/drawing/2014/main" id="{986B8CC6-C558-5DC2-41BA-B56C0E38297B}"/>
              </a:ext>
            </a:extLst>
          </p:cNvPr>
          <p:cNvPicPr>
            <a:picLocks noChangeAspect="1"/>
          </p:cNvPicPr>
          <p:nvPr/>
        </p:nvPicPr>
        <p:blipFill>
          <a:blip r:embed="rId3"/>
          <a:stretch>
            <a:fillRect/>
          </a:stretch>
        </p:blipFill>
        <p:spPr>
          <a:xfrm>
            <a:off x="755576" y="1851670"/>
            <a:ext cx="7365227" cy="2371535"/>
          </a:xfrm>
          <a:prstGeom prst="rect">
            <a:avLst/>
          </a:prstGeom>
        </p:spPr>
      </p:pic>
      <p:sp>
        <p:nvSpPr>
          <p:cNvPr id="6" name="TextBox 5">
            <a:extLst>
              <a:ext uri="{FF2B5EF4-FFF2-40B4-BE49-F238E27FC236}">
                <a16:creationId xmlns:a16="http://schemas.microsoft.com/office/drawing/2014/main" id="{19F5D92D-6203-9C27-044B-905F48BD2DB8}"/>
              </a:ext>
            </a:extLst>
          </p:cNvPr>
          <p:cNvSpPr txBox="1"/>
          <p:nvPr/>
        </p:nvSpPr>
        <p:spPr>
          <a:xfrm>
            <a:off x="755575" y="4371950"/>
            <a:ext cx="7365227" cy="276999"/>
          </a:xfrm>
          <a:prstGeom prst="rect">
            <a:avLst/>
          </a:prstGeom>
          <a:noFill/>
        </p:spPr>
        <p:txBody>
          <a:bodyPr wrap="square">
            <a:spAutoFit/>
          </a:bodyPr>
          <a:lstStyle/>
          <a:p>
            <a:r>
              <a:rPr lang="en-GB" sz="1200" dirty="0">
                <a:solidFill>
                  <a:schemeClr val="bg1"/>
                </a:solidFill>
              </a:rPr>
              <a:t>Self-worth is most prompt-responsive, Safety plateaus near ceiling, and Power improves least </a:t>
            </a:r>
            <a:endParaRPr lang="en-US" sz="1200" dirty="0">
              <a:solidFill>
                <a:schemeClr val="bg1"/>
              </a:solidFill>
            </a:endParaRPr>
          </a:p>
        </p:txBody>
      </p:sp>
    </p:spTree>
    <p:extLst>
      <p:ext uri="{BB962C8B-B14F-4D97-AF65-F5344CB8AC3E}">
        <p14:creationId xmlns:p14="http://schemas.microsoft.com/office/powerpoint/2010/main" val="477841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61D-DFBB-175C-239A-028AAF966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48D09-0620-0B0E-CE30-2F3BCD1BE202}"/>
              </a:ext>
            </a:extLst>
          </p:cNvPr>
          <p:cNvSpPr>
            <a:spLocks noGrp="1"/>
          </p:cNvSpPr>
          <p:nvPr>
            <p:ph type="ctrTitle"/>
          </p:nvPr>
        </p:nvSpPr>
        <p:spPr>
          <a:xfrm>
            <a:off x="467544" y="1059582"/>
            <a:ext cx="7860925" cy="432048"/>
          </a:xfrm>
        </p:spPr>
        <p:txBody>
          <a:bodyPr/>
          <a:lstStyle/>
          <a:p>
            <a:r>
              <a:rPr lang="en-GB" dirty="0"/>
              <a:t>5. What This Means</a:t>
            </a:r>
          </a:p>
        </p:txBody>
      </p:sp>
      <p:sp>
        <p:nvSpPr>
          <p:cNvPr id="4" name="TextBox 3">
            <a:extLst>
              <a:ext uri="{FF2B5EF4-FFF2-40B4-BE49-F238E27FC236}">
                <a16:creationId xmlns:a16="http://schemas.microsoft.com/office/drawing/2014/main" id="{734A689B-F867-751C-486A-7B85D66530E3}"/>
              </a:ext>
            </a:extLst>
          </p:cNvPr>
          <p:cNvSpPr txBox="1"/>
          <p:nvPr/>
        </p:nvSpPr>
        <p:spPr>
          <a:xfrm>
            <a:off x="107504" y="1499693"/>
            <a:ext cx="8004941" cy="3284041"/>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sz="1400" dirty="0">
                <a:solidFill>
                  <a:schemeClr val="bg1"/>
                </a:solidFill>
              </a:rPr>
              <a:t>Prompt engineering can reliably reshape surface-level discourse style — tone, validation, stigma-free language</a:t>
            </a:r>
          </a:p>
          <a:p>
            <a:pPr marL="742950" lvl="1" indent="-285750">
              <a:lnSpc>
                <a:spcPct val="150000"/>
              </a:lnSpc>
              <a:buFont typeface="Arial" panose="020B0604020202020204" pitchFamily="34" charset="0"/>
              <a:buChar char="•"/>
            </a:pPr>
            <a:r>
              <a:rPr lang="en-US" sz="1400" dirty="0">
                <a:solidFill>
                  <a:schemeClr val="bg1"/>
                </a:solidFill>
              </a:rPr>
              <a:t>It provides a fragile and incomplete mechanism for protecting agency- and identity-relevant qualities in high-stakes interaction</a:t>
            </a:r>
          </a:p>
          <a:p>
            <a:pPr marL="742950" lvl="1" indent="-285750">
              <a:lnSpc>
                <a:spcPct val="150000"/>
              </a:lnSpc>
              <a:buFont typeface="Arial" panose="020B0604020202020204" pitchFamily="34" charset="0"/>
              <a:buChar char="•"/>
            </a:pPr>
            <a:r>
              <a:rPr lang="en-US" sz="1400" dirty="0">
                <a:solidFill>
                  <a:schemeClr val="bg1"/>
                </a:solidFill>
              </a:rPr>
              <a:t>The Power dimension gap points to a structural limitation: consent, transparency, and user agency may require deeper model design or training intervention — not just better instructions</a:t>
            </a:r>
          </a:p>
          <a:p>
            <a:pPr marL="742950" lvl="1" indent="-285750">
              <a:lnSpc>
                <a:spcPct val="150000"/>
              </a:lnSpc>
              <a:buFont typeface="Arial" panose="020B0604020202020204" pitchFamily="34" charset="0"/>
              <a:buChar char="•"/>
            </a:pPr>
            <a:r>
              <a:rPr lang="en-US" sz="1400" dirty="0">
                <a:solidFill>
                  <a:schemeClr val="bg1"/>
                </a:solidFill>
              </a:rPr>
              <a:t>The evaluation framework is reusable: explicit indicator definitions, transparent rule-based scoring, applicable to other high-stakes social service contexts</a:t>
            </a:r>
          </a:p>
          <a:p>
            <a:pPr lvl="1">
              <a:lnSpc>
                <a:spcPct val="150000"/>
              </a:lnSpc>
            </a:pPr>
            <a:endParaRPr lang="en-GB" sz="1400" dirty="0">
              <a:solidFill>
                <a:schemeClr val="bg1"/>
              </a:solidFill>
            </a:endParaRPr>
          </a:p>
        </p:txBody>
      </p:sp>
    </p:spTree>
    <p:extLst>
      <p:ext uri="{BB962C8B-B14F-4D97-AF65-F5344CB8AC3E}">
        <p14:creationId xmlns:p14="http://schemas.microsoft.com/office/powerpoint/2010/main" val="111880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F98E2-855C-A47C-EA38-06498F7A4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C17B5-966E-CA1D-CBDC-9A8B3360ECD7}"/>
              </a:ext>
            </a:extLst>
          </p:cNvPr>
          <p:cNvSpPr>
            <a:spLocks noGrp="1"/>
          </p:cNvSpPr>
          <p:nvPr>
            <p:ph type="ctrTitle"/>
          </p:nvPr>
        </p:nvSpPr>
        <p:spPr>
          <a:xfrm>
            <a:off x="467544" y="1059582"/>
            <a:ext cx="7860925" cy="432048"/>
          </a:xfrm>
        </p:spPr>
        <p:txBody>
          <a:bodyPr/>
          <a:lstStyle/>
          <a:p>
            <a:r>
              <a:rPr lang="en-GB" dirty="0"/>
              <a:t>6. </a:t>
            </a:r>
            <a:r>
              <a:rPr lang="en-US" dirty="0"/>
              <a:t>Limitations</a:t>
            </a:r>
            <a:endParaRPr lang="en-GB" dirty="0"/>
          </a:p>
        </p:txBody>
      </p:sp>
      <p:sp>
        <p:nvSpPr>
          <p:cNvPr id="4" name="TextBox 3">
            <a:extLst>
              <a:ext uri="{FF2B5EF4-FFF2-40B4-BE49-F238E27FC236}">
                <a16:creationId xmlns:a16="http://schemas.microsoft.com/office/drawing/2014/main" id="{CD14AC84-D5E2-F412-FB9F-6E14D3394E47}"/>
              </a:ext>
            </a:extLst>
          </p:cNvPr>
          <p:cNvSpPr txBox="1"/>
          <p:nvPr/>
        </p:nvSpPr>
        <p:spPr>
          <a:xfrm>
            <a:off x="185538" y="1489754"/>
            <a:ext cx="8424936" cy="1668214"/>
          </a:xfrm>
          <a:prstGeom prst="rect">
            <a:avLst/>
          </a:prstGeom>
          <a:noFill/>
        </p:spPr>
        <p:txBody>
          <a:bodyPr wrap="square" rtlCol="0">
            <a:spAutoFit/>
          </a:bodyPr>
          <a:lstStyle/>
          <a:p>
            <a:pPr marL="742950" lvl="1" indent="-285750">
              <a:lnSpc>
                <a:spcPct val="150000"/>
              </a:lnSpc>
              <a:buFont typeface="Arial" panose="020B0604020202020204" pitchFamily="34" charset="0"/>
              <a:buChar char="•"/>
            </a:pPr>
            <a:r>
              <a:rPr lang="en-US" sz="1400" dirty="0">
                <a:solidFill>
                  <a:schemeClr val="bg1"/>
                </a:solidFill>
              </a:rPr>
              <a:t>Single-turn design constrains the evaluation of agency-supportive practices</a:t>
            </a:r>
          </a:p>
          <a:p>
            <a:pPr marL="742950" lvl="1" indent="-285750">
              <a:lnSpc>
                <a:spcPct val="150000"/>
              </a:lnSpc>
              <a:buFont typeface="Arial" panose="020B0604020202020204" pitchFamily="34" charset="0"/>
              <a:buChar char="•"/>
            </a:pPr>
            <a:r>
              <a:rPr lang="en-US" sz="1400" dirty="0">
                <a:solidFill>
                  <a:schemeClr val="bg1"/>
                </a:solidFill>
              </a:rPr>
              <a:t>The </a:t>
            </a:r>
            <a:r>
              <a:rPr lang="en-US" sz="1400" dirty="0" err="1">
                <a:solidFill>
                  <a:schemeClr val="bg1"/>
                </a:solidFill>
              </a:rPr>
              <a:t>operationalisation</a:t>
            </a:r>
            <a:r>
              <a:rPr lang="en-US" sz="1400" dirty="0">
                <a:solidFill>
                  <a:schemeClr val="bg1"/>
                </a:solidFill>
              </a:rPr>
              <a:t> dilemma: reducing researcher subjectivity </a:t>
            </a:r>
            <a:r>
              <a:rPr lang="en-US" sz="1400" i="1" dirty="0">
                <a:solidFill>
                  <a:schemeClr val="bg1"/>
                </a:solidFill>
              </a:rPr>
              <a:t>vs</a:t>
            </a:r>
            <a:r>
              <a:rPr lang="en-US" sz="1400" dirty="0">
                <a:solidFill>
                  <a:schemeClr val="bg1"/>
                </a:solidFill>
              </a:rPr>
              <a:t> losing interactional nuance</a:t>
            </a:r>
          </a:p>
          <a:p>
            <a:pPr marL="742950" lvl="1" indent="-285750">
              <a:lnSpc>
                <a:spcPct val="150000"/>
              </a:lnSpc>
              <a:buFont typeface="Arial" panose="020B0604020202020204" pitchFamily="34" charset="0"/>
              <a:buChar char="•"/>
            </a:pPr>
            <a:r>
              <a:rPr lang="en-US" sz="1400" dirty="0">
                <a:solidFill>
                  <a:schemeClr val="bg1"/>
                </a:solidFill>
              </a:rPr>
              <a:t>Human baseline is an asymmetric comparator under the present scoring scheme</a:t>
            </a:r>
            <a:endParaRPr lang="en-GB" sz="1400" dirty="0">
              <a:solidFill>
                <a:schemeClr val="bg1"/>
              </a:solidFill>
            </a:endParaRPr>
          </a:p>
          <a:p>
            <a:pPr marL="742950" lvl="1" indent="-285750">
              <a:lnSpc>
                <a:spcPct val="150000"/>
              </a:lnSpc>
              <a:buFont typeface="Arial" panose="020B0604020202020204" pitchFamily="34" charset="0"/>
              <a:buChar char="•"/>
            </a:pPr>
            <a:endParaRPr lang="en-US" sz="1400" dirty="0">
              <a:solidFill>
                <a:schemeClr val="bg1"/>
              </a:solidFill>
            </a:endParaRPr>
          </a:p>
          <a:p>
            <a:pPr lvl="1">
              <a:lnSpc>
                <a:spcPct val="150000"/>
              </a:lnSpc>
            </a:pPr>
            <a:endParaRPr lang="en-GB" sz="1400" dirty="0">
              <a:solidFill>
                <a:schemeClr val="bg1"/>
              </a:solidFill>
            </a:endParaRPr>
          </a:p>
        </p:txBody>
      </p:sp>
    </p:spTree>
    <p:extLst>
      <p:ext uri="{BB962C8B-B14F-4D97-AF65-F5344CB8AC3E}">
        <p14:creationId xmlns:p14="http://schemas.microsoft.com/office/powerpoint/2010/main" val="3295114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C1DB-43D3-94C2-AB01-33E365EF8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3BF6A-5808-E91A-A29B-B90083697A6F}"/>
              </a:ext>
            </a:extLst>
          </p:cNvPr>
          <p:cNvSpPr>
            <a:spLocks noGrp="1"/>
          </p:cNvSpPr>
          <p:nvPr>
            <p:ph type="ctrTitle"/>
          </p:nvPr>
        </p:nvSpPr>
        <p:spPr>
          <a:xfrm>
            <a:off x="467544" y="915566"/>
            <a:ext cx="7860925" cy="432048"/>
          </a:xfrm>
        </p:spPr>
        <p:txBody>
          <a:bodyPr/>
          <a:lstStyle/>
          <a:p>
            <a:r>
              <a:rPr lang="en-GB" dirty="0"/>
              <a:t>Reference</a:t>
            </a:r>
          </a:p>
        </p:txBody>
      </p:sp>
      <p:sp>
        <p:nvSpPr>
          <p:cNvPr id="4" name="TextBox 3">
            <a:extLst>
              <a:ext uri="{FF2B5EF4-FFF2-40B4-BE49-F238E27FC236}">
                <a16:creationId xmlns:a16="http://schemas.microsoft.com/office/drawing/2014/main" id="{129CEC0C-A7AB-4760-C5AE-F3EE65F76FE7}"/>
              </a:ext>
            </a:extLst>
          </p:cNvPr>
          <p:cNvSpPr txBox="1"/>
          <p:nvPr/>
        </p:nvSpPr>
        <p:spPr>
          <a:xfrm>
            <a:off x="467544" y="1365364"/>
            <a:ext cx="8424936" cy="3293209"/>
          </a:xfrm>
          <a:prstGeom prst="rect">
            <a:avLst/>
          </a:prstGeom>
          <a:noFill/>
        </p:spPr>
        <p:txBody>
          <a:bodyPr wrap="square" rtlCol="0">
            <a:spAutoFit/>
          </a:bodyPr>
          <a:lstStyle/>
          <a:p>
            <a:pPr marL="171450" indent="-171450">
              <a:buFont typeface="Arial" panose="020B0604020202020204" pitchFamily="34" charset="0"/>
              <a:buChar char="•"/>
            </a:pPr>
            <a:r>
              <a:rPr lang="en-GB" sz="800" b="1" dirty="0">
                <a:solidFill>
                  <a:schemeClr val="bg1"/>
                </a:solidFill>
              </a:rPr>
              <a:t>BASW.</a:t>
            </a:r>
            <a:r>
              <a:rPr lang="en-GB" sz="800" dirty="0">
                <a:solidFill>
                  <a:schemeClr val="bg1"/>
                </a:solidFill>
              </a:rPr>
              <a:t> (2014). </a:t>
            </a:r>
            <a:r>
              <a:rPr lang="en-GB" sz="800" i="1" dirty="0">
                <a:solidFill>
                  <a:schemeClr val="bg1"/>
                </a:solidFill>
              </a:rPr>
              <a:t>The Code of Ethics for Social Work.</a:t>
            </a:r>
            <a:r>
              <a:rPr lang="en-GB" sz="800" dirty="0">
                <a:solidFill>
                  <a:schemeClr val="bg1"/>
                </a:solidFill>
              </a:rPr>
              <a:t> </a:t>
            </a:r>
            <a:r>
              <a:rPr lang="en-GB" sz="800" dirty="0">
                <a:solidFill>
                  <a:schemeClr val="bg1"/>
                </a:solidFill>
                <a:hlinkClick r:id="rId3">
                  <a:extLst>
                    <a:ext uri="{A12FA001-AC4F-418D-AE19-62706E023703}">
                      <ahyp:hlinkClr xmlns:ahyp="http://schemas.microsoft.com/office/drawing/2018/hyperlinkcolor" val="tx"/>
                    </a:ext>
                  </a:extLst>
                </a:hlinkClick>
              </a:rPr>
              <a:t>https://basw.co.uk/sites/default/files/resources/Code%20of%20Ethics%20Aug18.pdf</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Blasco-Calafat, A., Blanes-Selva, V., </a:t>
            </a:r>
            <a:r>
              <a:rPr lang="en-GB" sz="800" b="1" dirty="0" err="1">
                <a:solidFill>
                  <a:schemeClr val="bg1"/>
                </a:solidFill>
              </a:rPr>
              <a:t>Doñate</a:t>
            </a:r>
            <a:r>
              <a:rPr lang="en-GB" sz="800" b="1" dirty="0">
                <a:solidFill>
                  <a:schemeClr val="bg1"/>
                </a:solidFill>
              </a:rPr>
              <a:t>-Martínez, A., </a:t>
            </a:r>
            <a:r>
              <a:rPr lang="en-GB" sz="800" b="1" dirty="0" err="1">
                <a:solidFill>
                  <a:schemeClr val="bg1"/>
                </a:solidFill>
              </a:rPr>
              <a:t>Fragner</a:t>
            </a:r>
            <a:r>
              <a:rPr lang="en-GB" sz="800" b="1" dirty="0">
                <a:solidFill>
                  <a:schemeClr val="bg1"/>
                </a:solidFill>
              </a:rPr>
              <a:t>, T., </a:t>
            </a:r>
            <a:r>
              <a:rPr lang="en-GB" sz="800" b="1" dirty="0" err="1">
                <a:solidFill>
                  <a:schemeClr val="bg1"/>
                </a:solidFill>
              </a:rPr>
              <a:t>Borrás</a:t>
            </a:r>
            <a:r>
              <a:rPr lang="en-GB" sz="800" b="1" dirty="0">
                <a:solidFill>
                  <a:schemeClr val="bg1"/>
                </a:solidFill>
              </a:rPr>
              <a:t>, T. A., </a:t>
            </a:r>
            <a:r>
              <a:rPr lang="en-GB" sz="800" b="1" dirty="0" err="1">
                <a:solidFill>
                  <a:schemeClr val="bg1"/>
                </a:solidFill>
              </a:rPr>
              <a:t>Gawronska</a:t>
            </a:r>
            <a:r>
              <a:rPr lang="en-GB" sz="800" b="1" dirty="0">
                <a:solidFill>
                  <a:schemeClr val="bg1"/>
                </a:solidFill>
              </a:rPr>
              <a:t>, J., </a:t>
            </a:r>
            <a:r>
              <a:rPr lang="en-GB" sz="800" b="1" dirty="0" err="1">
                <a:solidFill>
                  <a:schemeClr val="bg1"/>
                </a:solidFill>
              </a:rPr>
              <a:t>Moudatsou</a:t>
            </a:r>
            <a:r>
              <a:rPr lang="en-GB" sz="800" b="1" dirty="0">
                <a:solidFill>
                  <a:schemeClr val="bg1"/>
                </a:solidFill>
              </a:rPr>
              <a:t>, M., </a:t>
            </a:r>
            <a:r>
              <a:rPr lang="en-GB" sz="800" b="1" dirty="0" err="1">
                <a:solidFill>
                  <a:schemeClr val="bg1"/>
                </a:solidFill>
              </a:rPr>
              <a:t>Tabaki</a:t>
            </a:r>
            <a:r>
              <a:rPr lang="en-GB" sz="800" b="1" dirty="0">
                <a:solidFill>
                  <a:schemeClr val="bg1"/>
                </a:solidFill>
              </a:rPr>
              <a:t>, I., </a:t>
            </a:r>
            <a:r>
              <a:rPr lang="en-GB" sz="800" b="1" dirty="0" err="1">
                <a:solidFill>
                  <a:schemeClr val="bg1"/>
                </a:solidFill>
              </a:rPr>
              <a:t>Belogianni</a:t>
            </a:r>
            <a:r>
              <a:rPr lang="en-GB" sz="800" b="1" dirty="0">
                <a:solidFill>
                  <a:schemeClr val="bg1"/>
                </a:solidFill>
              </a:rPr>
              <a:t>, K., &amp; </a:t>
            </a:r>
            <a:r>
              <a:rPr lang="en-GB" sz="800" b="1" dirty="0" err="1">
                <a:solidFill>
                  <a:schemeClr val="bg1"/>
                </a:solidFill>
              </a:rPr>
              <a:t>Karnaki</a:t>
            </a:r>
            <a:r>
              <a:rPr lang="en-GB" sz="800" b="1" dirty="0">
                <a:solidFill>
                  <a:schemeClr val="bg1"/>
                </a:solidFill>
              </a:rPr>
              <a:t>, P.</a:t>
            </a:r>
            <a:r>
              <a:rPr lang="en-GB" sz="800" dirty="0">
                <a:solidFill>
                  <a:schemeClr val="bg1"/>
                </a:solidFill>
              </a:rPr>
              <a:t> (2025). An AI-based microsimulation for prevention of homelessness-related cancer.</a:t>
            </a:r>
          </a:p>
          <a:p>
            <a:pPr marL="171450" indent="-171450">
              <a:buFont typeface="Arial" panose="020B0604020202020204" pitchFamily="34" charset="0"/>
              <a:buChar char="•"/>
            </a:pPr>
            <a:r>
              <a:rPr lang="en-GB" sz="800" b="1" dirty="0" err="1">
                <a:solidFill>
                  <a:schemeClr val="bg1"/>
                </a:solidFill>
              </a:rPr>
              <a:t>Chelmis</a:t>
            </a:r>
            <a:r>
              <a:rPr lang="en-GB" sz="800" b="1" dirty="0">
                <a:solidFill>
                  <a:schemeClr val="bg1"/>
                </a:solidFill>
              </a:rPr>
              <a:t>, C., Qi, W., Lee, W., &amp; Duncan, S.</a:t>
            </a:r>
            <a:r>
              <a:rPr lang="en-GB" sz="800" dirty="0">
                <a:solidFill>
                  <a:schemeClr val="bg1"/>
                </a:solidFill>
              </a:rPr>
              <a:t> (2021). Smart homelessness service provision with machine learning. </a:t>
            </a:r>
            <a:r>
              <a:rPr lang="en-GB" sz="800" i="1" dirty="0">
                <a:solidFill>
                  <a:schemeClr val="bg1"/>
                </a:solidFill>
              </a:rPr>
              <a:t>Procedia Computer Science.</a:t>
            </a:r>
            <a:r>
              <a:rPr lang="en-GB" sz="800" dirty="0">
                <a:solidFill>
                  <a:schemeClr val="bg1"/>
                </a:solidFill>
              </a:rPr>
              <a:t> </a:t>
            </a:r>
            <a:r>
              <a:rPr lang="en-GB" sz="800" dirty="0">
                <a:solidFill>
                  <a:schemeClr val="bg1"/>
                </a:solidFill>
                <a:hlinkClick r:id="rId4">
                  <a:extLst>
                    <a:ext uri="{A12FA001-AC4F-418D-AE19-62706E023703}">
                      <ahyp:hlinkClr xmlns:ahyp="http://schemas.microsoft.com/office/drawing/2018/hyperlinkcolor" val="tx"/>
                    </a:ext>
                  </a:extLst>
                </a:hlinkClick>
              </a:rPr>
              <a:t>https://www.sciencedirect.com</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Johnston, C. M., </a:t>
            </a:r>
            <a:r>
              <a:rPr lang="en-GB" sz="800" b="1" dirty="0" err="1">
                <a:solidFill>
                  <a:schemeClr val="bg1"/>
                </a:solidFill>
              </a:rPr>
              <a:t>Koumoundouros</a:t>
            </a:r>
            <a:r>
              <a:rPr lang="en-GB" sz="800" b="1" dirty="0">
                <a:solidFill>
                  <a:schemeClr val="bg1"/>
                </a:solidFill>
              </a:rPr>
              <a:t>, O., Hwang, A. H.-C., Onasch-Vera, L., Rice, E., &amp; </a:t>
            </a:r>
            <a:r>
              <a:rPr lang="en-GB" sz="800" b="1" dirty="0" err="1">
                <a:solidFill>
                  <a:schemeClr val="bg1"/>
                </a:solidFill>
              </a:rPr>
              <a:t>Vayanos</a:t>
            </a:r>
            <a:r>
              <a:rPr lang="en-GB" sz="800" b="1" dirty="0">
                <a:solidFill>
                  <a:schemeClr val="bg1"/>
                </a:solidFill>
              </a:rPr>
              <a:t>, P.</a:t>
            </a:r>
            <a:r>
              <a:rPr lang="en-GB" sz="800" dirty="0">
                <a:solidFill>
                  <a:schemeClr val="bg1"/>
                </a:solidFill>
              </a:rPr>
              <a:t> (2025). Toward AI matching policies in homeless services: A qualitative study with policymakers. </a:t>
            </a:r>
            <a:r>
              <a:rPr lang="en-GB" sz="800" i="1" dirty="0" err="1">
                <a:solidFill>
                  <a:schemeClr val="bg1"/>
                </a:solidFill>
              </a:rPr>
              <a:t>arXiv</a:t>
            </a:r>
            <a:r>
              <a:rPr lang="en-GB" sz="800" i="1" dirty="0">
                <a:solidFill>
                  <a:schemeClr val="bg1"/>
                </a:solidFill>
              </a:rPr>
              <a:t>.</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Jr, J. K.</a:t>
            </a:r>
            <a:r>
              <a:rPr lang="en-GB" sz="800" dirty="0">
                <a:solidFill>
                  <a:schemeClr val="bg1"/>
                </a:solidFill>
              </a:rPr>
              <a:t> (2025). Measuring and mitigating homelessness bias: Leveraging AI for social impact. </a:t>
            </a:r>
            <a:r>
              <a:rPr lang="en-GB" sz="800" i="1" dirty="0">
                <a:solidFill>
                  <a:schemeClr val="bg1"/>
                </a:solidFill>
              </a:rPr>
              <a:t>International Joint Conference on Artificial Intelligence.</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Kube, A., Das, S., &amp; Fowler, P.</a:t>
            </a:r>
            <a:r>
              <a:rPr lang="en-GB" sz="800" dirty="0">
                <a:solidFill>
                  <a:schemeClr val="bg1"/>
                </a:solidFill>
              </a:rPr>
              <a:t> (2019). Allocating interventions based on predicted outcomes: A case study on homelessness services. </a:t>
            </a:r>
            <a:r>
              <a:rPr lang="en-GB" sz="800" i="1" dirty="0">
                <a:solidFill>
                  <a:schemeClr val="bg1"/>
                </a:solidFill>
              </a:rPr>
              <a:t>AAAI Conference on Artificial Intelligence.</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Moon, E., &amp; Guha, S.</a:t>
            </a:r>
            <a:r>
              <a:rPr lang="en-GB" sz="800" dirty="0">
                <a:solidFill>
                  <a:schemeClr val="bg1"/>
                </a:solidFill>
              </a:rPr>
              <a:t> (2024). A human-</a:t>
            </a:r>
            <a:r>
              <a:rPr lang="en-GB" sz="800" dirty="0" err="1">
                <a:solidFill>
                  <a:schemeClr val="bg1"/>
                </a:solidFill>
              </a:rPr>
              <a:t>centered</a:t>
            </a:r>
            <a:r>
              <a:rPr lang="en-GB" sz="800" dirty="0">
                <a:solidFill>
                  <a:schemeClr val="bg1"/>
                </a:solidFill>
              </a:rPr>
              <a:t> review of algorithms in homelessness research. </a:t>
            </a:r>
            <a:r>
              <a:rPr lang="en-GB" sz="800" i="1" dirty="0">
                <a:solidFill>
                  <a:schemeClr val="bg1"/>
                </a:solidFill>
              </a:rPr>
              <a:t>Proceedings of the 2024 CHI Conference.</a:t>
            </a:r>
            <a:r>
              <a:rPr lang="en-GB" sz="800" dirty="0">
                <a:solidFill>
                  <a:schemeClr val="bg1"/>
                </a:solidFill>
              </a:rPr>
              <a:t> </a:t>
            </a:r>
            <a:r>
              <a:rPr lang="en-GB" sz="800" dirty="0">
                <a:solidFill>
                  <a:schemeClr val="bg1"/>
                </a:solidFill>
                <a:hlinkClick r:id="rId5">
                  <a:extLst>
                    <a:ext uri="{A12FA001-AC4F-418D-AE19-62706E023703}">
                      <ahyp:hlinkClr xmlns:ahyp="http://schemas.microsoft.com/office/drawing/2018/hyperlinkcolor" val="tx"/>
                    </a:ext>
                  </a:extLst>
                </a:hlinkClick>
              </a:rPr>
              <a:t>https://doi.org/10.1145/3613904.3642392</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Mustafa, F., &amp; Rinaudo, O.</a:t>
            </a:r>
            <a:r>
              <a:rPr lang="en-GB" sz="800" dirty="0">
                <a:solidFill>
                  <a:schemeClr val="bg1"/>
                </a:solidFill>
              </a:rPr>
              <a:t> (2024). Evidence-based policy design using data analytics and AI: Tackling homelessness, mental health, and substance abuse.</a:t>
            </a:r>
          </a:p>
          <a:p>
            <a:pPr marL="171450" indent="-171450">
              <a:buFont typeface="Arial" panose="020B0604020202020204" pitchFamily="34" charset="0"/>
              <a:buChar char="•"/>
            </a:pPr>
            <a:r>
              <a:rPr lang="en-GB" sz="800" b="1" dirty="0">
                <a:solidFill>
                  <a:schemeClr val="bg1"/>
                </a:solidFill>
              </a:rPr>
              <a:t>Nigam, I.</a:t>
            </a:r>
            <a:r>
              <a:rPr lang="en-GB" sz="800" dirty="0">
                <a:solidFill>
                  <a:schemeClr val="bg1"/>
                </a:solidFill>
              </a:rPr>
              <a:t> (2023). AI-in-the-loop human interventions for homelessness resource allocation. </a:t>
            </a:r>
            <a:r>
              <a:rPr lang="en-GB" sz="800" dirty="0">
                <a:solidFill>
                  <a:schemeClr val="bg1"/>
                </a:solidFill>
                <a:hlinkClick r:id="rId6">
                  <a:extLst>
                    <a:ext uri="{A12FA001-AC4F-418D-AE19-62706E023703}">
                      <ahyp:hlinkClr xmlns:ahyp="http://schemas.microsoft.com/office/drawing/2018/hyperlinkcolor" val="tx"/>
                    </a:ext>
                  </a:extLst>
                </a:hlinkClick>
              </a:rPr>
              <a:t>https://repositories.lib.utexas.edu/items/05c5980b-e3ca-4e4d-8103-f035b19ef736</a:t>
            </a:r>
            <a:endParaRPr lang="en-GB" sz="800" dirty="0">
              <a:solidFill>
                <a:schemeClr val="bg1"/>
              </a:solidFill>
            </a:endParaRPr>
          </a:p>
          <a:p>
            <a:pPr marL="171450" indent="-171450">
              <a:buFont typeface="Arial" panose="020B0604020202020204" pitchFamily="34" charset="0"/>
              <a:buChar char="•"/>
            </a:pPr>
            <a:r>
              <a:rPr lang="en-GB" sz="800" b="1" dirty="0" err="1">
                <a:solidFill>
                  <a:schemeClr val="bg1"/>
                </a:solidFill>
              </a:rPr>
              <a:t>Nuwasiima</a:t>
            </a:r>
            <a:r>
              <a:rPr lang="en-GB" sz="800" b="1" dirty="0">
                <a:solidFill>
                  <a:schemeClr val="bg1"/>
                </a:solidFill>
              </a:rPr>
              <a:t>, M., </a:t>
            </a:r>
            <a:r>
              <a:rPr lang="en-GB" sz="800" b="1" dirty="0" err="1">
                <a:solidFill>
                  <a:schemeClr val="bg1"/>
                </a:solidFill>
              </a:rPr>
              <a:t>Ahonon</a:t>
            </a:r>
            <a:r>
              <a:rPr lang="en-GB" sz="800" b="1" dirty="0">
                <a:solidFill>
                  <a:schemeClr val="bg1"/>
                </a:solidFill>
              </a:rPr>
              <a:t>, M., &amp; Kadiri, C.</a:t>
            </a:r>
            <a:r>
              <a:rPr lang="en-GB" sz="800" dirty="0">
                <a:solidFill>
                  <a:schemeClr val="bg1"/>
                </a:solidFill>
              </a:rPr>
              <a:t> (2024). The role of artificial intelligence (AI) and machine learning in social work practice. </a:t>
            </a:r>
            <a:r>
              <a:rPr lang="en-GB" sz="800" i="1" dirty="0">
                <a:solidFill>
                  <a:schemeClr val="bg1"/>
                </a:solidFill>
              </a:rPr>
              <a:t>World Journal of Advanced Research.</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Nyombi, A., </a:t>
            </a:r>
            <a:r>
              <a:rPr lang="en-GB" sz="800" b="1" dirty="0" err="1">
                <a:solidFill>
                  <a:schemeClr val="bg1"/>
                </a:solidFill>
              </a:rPr>
              <a:t>Nagalila</a:t>
            </a:r>
            <a:r>
              <a:rPr lang="en-GB" sz="800" b="1" dirty="0">
                <a:solidFill>
                  <a:schemeClr val="bg1"/>
                </a:solidFill>
              </a:rPr>
              <a:t>, W., </a:t>
            </a:r>
            <a:r>
              <a:rPr lang="en-GB" sz="800" b="1" dirty="0" err="1">
                <a:solidFill>
                  <a:schemeClr val="bg1"/>
                </a:solidFill>
              </a:rPr>
              <a:t>Sekinobe</a:t>
            </a:r>
            <a:r>
              <a:rPr lang="en-GB" sz="800" b="1" dirty="0">
                <a:solidFill>
                  <a:schemeClr val="bg1"/>
                </a:solidFill>
              </a:rPr>
              <a:t>, M., et al.</a:t>
            </a:r>
            <a:r>
              <a:rPr lang="en-GB" sz="800" dirty="0">
                <a:solidFill>
                  <a:schemeClr val="bg1"/>
                </a:solidFill>
              </a:rPr>
              <a:t> (2024). Enhancing non-profit efficiency to address homelessness through advanced technology. </a:t>
            </a:r>
            <a:r>
              <a:rPr lang="en-GB" sz="800" i="1" dirty="0">
                <a:solidFill>
                  <a:schemeClr val="bg1"/>
                </a:solidFill>
              </a:rPr>
              <a:t>SSRN.</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Reamer, F.</a:t>
            </a:r>
            <a:r>
              <a:rPr lang="en-GB" sz="800" dirty="0">
                <a:solidFill>
                  <a:schemeClr val="bg1"/>
                </a:solidFill>
              </a:rPr>
              <a:t> (2023). Artificial intelligence in social work: Emerging ethical issues. </a:t>
            </a:r>
            <a:r>
              <a:rPr lang="en-GB" sz="800" i="1" dirty="0">
                <a:solidFill>
                  <a:schemeClr val="bg1"/>
                </a:solidFill>
              </a:rPr>
              <a:t>International Journal of Social Work Values and Ethics.</a:t>
            </a:r>
            <a:r>
              <a:rPr lang="en-GB" sz="800" dirty="0">
                <a:solidFill>
                  <a:schemeClr val="bg1"/>
                </a:solidFill>
              </a:rPr>
              <a:t> </a:t>
            </a:r>
            <a:r>
              <a:rPr lang="en-GB" sz="800" dirty="0">
                <a:solidFill>
                  <a:schemeClr val="bg1"/>
                </a:solidFill>
                <a:hlinkClick r:id="rId7">
                  <a:extLst>
                    <a:ext uri="{A12FA001-AC4F-418D-AE19-62706E023703}">
                      <ahyp:hlinkClr xmlns:ahyp="http://schemas.microsoft.com/office/drawing/2018/hyperlinkcolor" val="tx"/>
                    </a:ext>
                  </a:extLst>
                </a:hlinkClick>
              </a:rPr>
              <a:t>https://jswve.org/volume-20</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Rice, E., Wilder, B., Onasch-Vera, L., et al.</a:t>
            </a:r>
            <a:r>
              <a:rPr lang="en-GB" sz="800" dirty="0">
                <a:solidFill>
                  <a:schemeClr val="bg1"/>
                </a:solidFill>
              </a:rPr>
              <a:t> (2021). A peer-led, artificial intelligence–augmented social network intervention to prevent HIV among youth experiencing homelessness. </a:t>
            </a:r>
            <a:r>
              <a:rPr lang="en-GB" sz="800" i="1" dirty="0">
                <a:solidFill>
                  <a:schemeClr val="bg1"/>
                </a:solidFill>
              </a:rPr>
              <a:t>JAIDS Journal of Acquired Immune Deficiency Syndromes.</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Shah, O. R., Willoughby, L., &amp; Bowersox, N.</a:t>
            </a:r>
            <a:r>
              <a:rPr lang="en-GB" sz="800" dirty="0">
                <a:solidFill>
                  <a:schemeClr val="bg1"/>
                </a:solidFill>
              </a:rPr>
              <a:t> (2021). Tackling homelessness through AI powered social innovations: A novel and ground-breaking assessment of criminal victimization of homeless populations.</a:t>
            </a:r>
          </a:p>
          <a:p>
            <a:pPr marL="171450" indent="-171450">
              <a:buFont typeface="Arial" panose="020B0604020202020204" pitchFamily="34" charset="0"/>
              <a:buChar char="•"/>
            </a:pPr>
            <a:r>
              <a:rPr lang="en-GB" sz="800" b="1" dirty="0">
                <a:solidFill>
                  <a:schemeClr val="bg1"/>
                </a:solidFill>
              </a:rPr>
              <a:t>Taib, M., Wu, J., Drew, S., &amp; Messier, G.</a:t>
            </a:r>
            <a:r>
              <a:rPr lang="en-GB" sz="800" dirty="0">
                <a:solidFill>
                  <a:schemeClr val="bg1"/>
                </a:solidFill>
              </a:rPr>
              <a:t> (2024). Enhancing equitable access to AI in housing and homelessness system of care through federated learning. </a:t>
            </a:r>
            <a:r>
              <a:rPr lang="en-GB" sz="800" i="1" dirty="0">
                <a:solidFill>
                  <a:schemeClr val="bg1"/>
                </a:solidFill>
              </a:rPr>
              <a:t>AAAI/ACM Conference on AI.</a:t>
            </a:r>
            <a:endParaRPr lang="en-GB" sz="800" dirty="0">
              <a:solidFill>
                <a:schemeClr val="bg1"/>
              </a:solidFill>
            </a:endParaRPr>
          </a:p>
          <a:p>
            <a:pPr marL="171450" indent="-171450">
              <a:buFont typeface="Arial" panose="020B0604020202020204" pitchFamily="34" charset="0"/>
              <a:buChar char="•"/>
            </a:pPr>
            <a:r>
              <a:rPr lang="en-GB" sz="800" b="1" dirty="0">
                <a:solidFill>
                  <a:schemeClr val="bg1"/>
                </a:solidFill>
              </a:rPr>
              <a:t>Tang, N., Zhi, J., Kuo, T.-S., </a:t>
            </a:r>
            <a:r>
              <a:rPr lang="en-GB" sz="800" b="1" dirty="0" err="1">
                <a:solidFill>
                  <a:schemeClr val="bg1"/>
                </a:solidFill>
              </a:rPr>
              <a:t>Kainaroi</a:t>
            </a:r>
            <a:r>
              <a:rPr lang="en-GB" sz="800" b="1" dirty="0">
                <a:solidFill>
                  <a:schemeClr val="bg1"/>
                </a:solidFill>
              </a:rPr>
              <a:t>, C., Northup, J. J., Holstein, K., Zhu, H., Heidari, H., &amp; Shen, H.</a:t>
            </a:r>
            <a:r>
              <a:rPr lang="en-GB" sz="800" dirty="0">
                <a:solidFill>
                  <a:schemeClr val="bg1"/>
                </a:solidFill>
              </a:rPr>
              <a:t> (2024). AI failure cards: Understanding and supporting grassroots efforts to mitigate AI failures.</a:t>
            </a:r>
          </a:p>
          <a:p>
            <a:pPr marL="171450" indent="-171450">
              <a:buFont typeface="Arial" panose="020B0604020202020204" pitchFamily="34" charset="0"/>
              <a:buChar char="•"/>
            </a:pPr>
            <a:r>
              <a:rPr lang="en-GB" sz="800" b="1" dirty="0">
                <a:solidFill>
                  <a:schemeClr val="bg1"/>
                </a:solidFill>
              </a:rPr>
              <a:t>Yu, H. Q., &amp; McGuinness, S.</a:t>
            </a:r>
            <a:r>
              <a:rPr lang="en-GB" sz="800" dirty="0">
                <a:solidFill>
                  <a:schemeClr val="bg1"/>
                </a:solidFill>
              </a:rPr>
              <a:t> (2024). An experimental study of integrating fine-tuned large language models and prompts for enhancing mental health support chatbot system. </a:t>
            </a:r>
            <a:r>
              <a:rPr lang="en-GB" sz="800" i="1" dirty="0">
                <a:solidFill>
                  <a:schemeClr val="bg1"/>
                </a:solidFill>
              </a:rPr>
              <a:t>Journal of Medical Artificial Intelligence.</a:t>
            </a:r>
            <a:r>
              <a:rPr lang="en-GB" sz="800" dirty="0">
                <a:solidFill>
                  <a:schemeClr val="bg1"/>
                </a:solidFill>
              </a:rPr>
              <a:t> </a:t>
            </a:r>
            <a:r>
              <a:rPr lang="en-GB" sz="800" dirty="0">
                <a:solidFill>
                  <a:schemeClr val="bg1"/>
                </a:solidFill>
                <a:hlinkClick r:id="rId8">
                  <a:extLst>
                    <a:ext uri="{A12FA001-AC4F-418D-AE19-62706E023703}">
                      <ahyp:hlinkClr xmlns:ahyp="http://schemas.microsoft.com/office/drawing/2018/hyperlinkcolor" val="tx"/>
                    </a:ext>
                  </a:extLst>
                </a:hlinkClick>
              </a:rPr>
              <a:t>https://doi.org/10.21037/jmai-23-136</a:t>
            </a:r>
            <a:endParaRPr lang="en-GB" sz="800" dirty="0">
              <a:solidFill>
                <a:schemeClr val="bg1"/>
              </a:solidFill>
            </a:endParaRPr>
          </a:p>
        </p:txBody>
      </p:sp>
    </p:spTree>
    <p:extLst>
      <p:ext uri="{BB962C8B-B14F-4D97-AF65-F5344CB8AC3E}">
        <p14:creationId xmlns:p14="http://schemas.microsoft.com/office/powerpoint/2010/main" val="2641391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56459-6CD0-4978-00CE-4CE69658B45C}"/>
              </a:ext>
            </a:extLst>
          </p:cNvPr>
          <p:cNvSpPr>
            <a:spLocks noGrp="1"/>
          </p:cNvSpPr>
          <p:nvPr>
            <p:ph type="title"/>
          </p:nvPr>
        </p:nvSpPr>
        <p:spPr>
          <a:xfrm>
            <a:off x="410017" y="1923678"/>
            <a:ext cx="8353175" cy="1656184"/>
          </a:xfrm>
        </p:spPr>
        <p:txBody>
          <a:bodyPr/>
          <a:lstStyle/>
          <a:p>
            <a:r>
              <a:rPr lang="en-US" dirty="0"/>
              <a:t>Thank you!</a:t>
            </a:r>
          </a:p>
        </p:txBody>
      </p:sp>
      <p:sp>
        <p:nvSpPr>
          <p:cNvPr id="3" name="Text Placeholder 2">
            <a:extLst>
              <a:ext uri="{FF2B5EF4-FFF2-40B4-BE49-F238E27FC236}">
                <a16:creationId xmlns:a16="http://schemas.microsoft.com/office/drawing/2014/main" id="{6049FF38-1C05-0736-E9D4-D6A7518BF44A}"/>
              </a:ext>
            </a:extLst>
          </p:cNvPr>
          <p:cNvSpPr>
            <a:spLocks noGrp="1"/>
          </p:cNvSpPr>
          <p:nvPr>
            <p:ph type="body" sz="quarter" idx="10"/>
          </p:nvPr>
        </p:nvSpPr>
        <p:spPr>
          <a:xfrm>
            <a:off x="395412" y="3219822"/>
            <a:ext cx="8353175" cy="1296144"/>
          </a:xfrm>
        </p:spPr>
        <p:txBody>
          <a:bodyPr/>
          <a:lstStyle/>
          <a:p>
            <a:r>
              <a:rPr lang="en-US" dirty="0"/>
              <a:t>Call for collaboration~</a:t>
            </a:r>
          </a:p>
          <a:p>
            <a:r>
              <a:rPr lang="en-US" dirty="0">
                <a:hlinkClick r:id="rId2">
                  <a:extLst>
                    <a:ext uri="{A12FA001-AC4F-418D-AE19-62706E023703}">
                      <ahyp:hlinkClr xmlns:ahyp="http://schemas.microsoft.com/office/drawing/2018/hyperlinkcolor" val="tx"/>
                    </a:ext>
                  </a:extLst>
                </a:hlinkClick>
              </a:rPr>
              <a:t>R.Jiang-21@sms.ed.ac.uk</a:t>
            </a:r>
            <a:endParaRPr lang="en-US" dirty="0"/>
          </a:p>
          <a:p>
            <a:r>
              <a:rPr lang="en-US" dirty="0">
                <a:hlinkClick r:id="rId3">
                  <a:extLst>
                    <a:ext uri="{A12FA001-AC4F-418D-AE19-62706E023703}">
                      <ahyp:hlinkClr xmlns:ahyp="http://schemas.microsoft.com/office/drawing/2018/hyperlinkcolor" val="tx"/>
                    </a:ext>
                  </a:extLst>
                </a:hlinkClick>
              </a:rPr>
              <a:t>https://rhodajiang.github.io/</a:t>
            </a:r>
            <a:endParaRPr lang="en-US" dirty="0"/>
          </a:p>
          <a:p>
            <a:endParaRPr lang="en-US" dirty="0"/>
          </a:p>
        </p:txBody>
      </p:sp>
    </p:spTree>
    <p:extLst>
      <p:ext uri="{BB962C8B-B14F-4D97-AF65-F5344CB8AC3E}">
        <p14:creationId xmlns:p14="http://schemas.microsoft.com/office/powerpoint/2010/main" val="3446881745"/>
      </p:ext>
    </p:extLst>
  </p:cSld>
  <p:clrMapOvr>
    <a:masterClrMapping/>
  </p:clrMapOvr>
</p:sld>
</file>

<file path=ppt/theme/theme1.xml><?xml version="1.0" encoding="utf-8"?>
<a:theme xmlns:a="http://schemas.openxmlformats.org/drawingml/2006/main" name="Title pa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orporate font - source sans pro">
      <a:majorFont>
        <a:latin typeface="Source Sans Pro SemiBold"/>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038F6E518651419D49F0351405DFFA" ma:contentTypeVersion="14" ma:contentTypeDescription="Create a new document." ma:contentTypeScope="" ma:versionID="f3744bf68335296e27e10f3acf6d6981">
  <xsd:schema xmlns:xsd="http://www.w3.org/2001/XMLSchema" xmlns:xs="http://www.w3.org/2001/XMLSchema" xmlns:p="http://schemas.microsoft.com/office/2006/metadata/properties" xmlns:ns2="108a240f-bd60-473e-b783-0b6ed6ec0e65" xmlns:ns3="908848ee-ebbf-4c50-9be1-13b37fabc3ce" targetNamespace="http://schemas.microsoft.com/office/2006/metadata/properties" ma:root="true" ma:fieldsID="67cd254c4863b7e89206c68c94382d25" ns2:_="" ns3:_="">
    <xsd:import namespace="108a240f-bd60-473e-b783-0b6ed6ec0e65"/>
    <xsd:import namespace="908848ee-ebbf-4c50-9be1-13b37fabc3c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8a240f-bd60-473e-b783-0b6ed6ec0e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d54eff52-6b6d-4e5f-a3b0-187f185b1db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08848ee-ebbf-4c50-9be1-13b37fabc3c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d89d76d-d1d8-49ea-be40-b793e8f9d746}" ma:internalName="TaxCatchAll" ma:showField="CatchAllData" ma:web="908848ee-ebbf-4c50-9be1-13b37fabc3c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08848ee-ebbf-4c50-9be1-13b37fabc3ce" xsi:nil="true"/>
    <lcf76f155ced4ddcb4097134ff3c332f xmlns="108a240f-bd60-473e-b783-0b6ed6ec0e6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5F76FF4-5EB5-44DC-A222-398EA39423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8a240f-bd60-473e-b783-0b6ed6ec0e65"/>
    <ds:schemaRef ds:uri="908848ee-ebbf-4c50-9be1-13b37fabc3c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0B12CB-683D-4552-BC96-69D87A352508}">
  <ds:schemaRefs>
    <ds:schemaRef ds:uri="http://schemas.microsoft.com/sharepoint/v3/contenttype/forms"/>
  </ds:schemaRefs>
</ds:datastoreItem>
</file>

<file path=customXml/itemProps3.xml><?xml version="1.0" encoding="utf-8"?>
<ds:datastoreItem xmlns:ds="http://schemas.openxmlformats.org/officeDocument/2006/customXml" ds:itemID="{59033982-B1F5-414E-B110-9557F1250A07}">
  <ds:schemaRefs>
    <ds:schemaRef ds:uri="http://schemas.microsoft.com/office/2006/metadata/properties"/>
    <ds:schemaRef ds:uri="http://schemas.microsoft.com/office/infopath/2007/PartnerControls"/>
    <ds:schemaRef ds:uri="908848ee-ebbf-4c50-9be1-13b37fabc3ce"/>
    <ds:schemaRef ds:uri="108a240f-bd60-473e-b783-0b6ed6ec0e65"/>
  </ds:schemaRefs>
</ds:datastoreItem>
</file>

<file path=docProps/app.xml><?xml version="1.0" encoding="utf-8"?>
<Properties xmlns="http://schemas.openxmlformats.org/officeDocument/2006/extended-properties" xmlns:vt="http://schemas.openxmlformats.org/officeDocument/2006/docPropsVTypes">
  <TotalTime>6888</TotalTime>
  <Words>1868</Words>
  <Application>Microsoft Macintosh PowerPoint</Application>
  <PresentationFormat>On-screen Show (16:9)</PresentationFormat>
  <Paragraphs>149</Paragraphs>
  <Slides>17</Slides>
  <Notes>12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Aptos</vt:lpstr>
      <vt:lpstr>Aptos Display</vt:lpstr>
      <vt:lpstr>Arial</vt:lpstr>
      <vt:lpstr>Calibri</vt:lpstr>
      <vt:lpstr>Times New Roman</vt:lpstr>
      <vt:lpstr>Title page</vt:lpstr>
      <vt:lpstr>1_Custom Design</vt:lpstr>
      <vt:lpstr>Custom Design</vt:lpstr>
      <vt:lpstr>Benchmarking LLMs Against Social Work Values:  A Trauma-Informed Pilot Study in  Youth Homelessness Services</vt:lpstr>
      <vt:lpstr>PowerPoint Presentation</vt:lpstr>
      <vt:lpstr>PowerPoint Presentation</vt:lpstr>
      <vt:lpstr>PowerPoint Presentation</vt:lpstr>
      <vt:lpstr>3. Research Design: Trauma-Informed Care (TIC) </vt:lpstr>
      <vt:lpstr>3. Research Design: An Evaluative TIC Framework  </vt:lpstr>
      <vt:lpstr>PowerPoint Presentation</vt:lpstr>
      <vt:lpstr>PowerPoint Presentation</vt:lpstr>
      <vt:lpstr>4. Key Findings: Within-model Change Across Prompt Iterations </vt:lpstr>
      <vt:lpstr>4. Key Findings: Between-model Convergence and Divergence</vt:lpstr>
      <vt:lpstr>4. Key Findings: Similarity to human expert</vt:lpstr>
      <vt:lpstr>4. Key Findings: Dimension-level effects of prompt engineering (nine-indicator rubric) </vt:lpstr>
      <vt:lpstr>4. Key Findings: Synthesis: what improves, what plateaus, and where limits appear </vt:lpstr>
      <vt:lpstr>5. What This Means</vt:lpstr>
      <vt:lpstr>6. Limitations</vt:lpstr>
      <vt:lpstr>Reference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forum: 24.09.15  edweb design update</dc:title>
  <dc:subject/>
  <dc:creator>ROSS Steven</dc:creator>
  <cp:keywords/>
  <dc:description/>
  <cp:lastModifiedBy>Rhoda Jiang</cp:lastModifiedBy>
  <cp:revision>174</cp:revision>
  <cp:lastPrinted>2017-08-17T10:25:21Z</cp:lastPrinted>
  <dcterms:created xsi:type="dcterms:W3CDTF">2015-09-24T13:33:25Z</dcterms:created>
  <dcterms:modified xsi:type="dcterms:W3CDTF">2026-06-04T12:16:47Z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0x010100C2038F6E518651419D49F0351405DFFA</vt:lpwstr>
  </property>
  <property fmtid="{D5CDD505-2E9C-101B-9397-08002B2CF9AE}" pid="3" name="MediaServiceImageTags">
    <vt:lpwstr/>
  </property>
</Properties>
</file>